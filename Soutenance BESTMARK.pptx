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DM Sans Bold" charset="1" panose="00000000000000000000"/>
      <p:regular r:id="rId25"/>
    </p:embeddedFont>
    <p:embeddedFont>
      <p:font typeface="Montserrat Bold" charset="1" panose="00000800000000000000"/>
      <p:regular r:id="rId26"/>
    </p:embeddedFont>
    <p:embeddedFont>
      <p:font typeface="DM Sans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82500" y="-2095500"/>
            <a:ext cx="7620000" cy="7620000"/>
            <a:chOff x="0" y="0"/>
            <a:chExt cx="10160000" cy="1016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60000" cy="10160000"/>
            </a:xfrm>
            <a:custGeom>
              <a:avLst/>
              <a:gdLst/>
              <a:ahLst/>
              <a:cxnLst/>
              <a:rect r="r" b="b" t="t" l="l"/>
              <a:pathLst>
                <a:path h="10160000" w="10160000">
                  <a:moveTo>
                    <a:pt x="0" y="0"/>
                  </a:moveTo>
                  <a:lnTo>
                    <a:pt x="10160000" y="0"/>
                  </a:lnTo>
                  <a:lnTo>
                    <a:pt x="10160000" y="10160000"/>
                  </a:lnTo>
                  <a:lnTo>
                    <a:pt x="0" y="10160000"/>
                  </a:lnTo>
                  <a:close/>
                </a:path>
              </a:pathLst>
            </a:custGeom>
            <a:solidFill>
              <a:srgbClr val="F4F7F8">
                <a:alpha val="1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160000" cy="1019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C5C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966699" y="325967"/>
            <a:ext cx="4639358" cy="4639358"/>
          </a:xfrm>
          <a:custGeom>
            <a:avLst/>
            <a:gdLst/>
            <a:ahLst/>
            <a:cxnLst/>
            <a:rect r="r" b="b" t="t" l="l"/>
            <a:pathLst>
              <a:path h="4639358" w="4639358">
                <a:moveTo>
                  <a:pt x="0" y="0"/>
                </a:moveTo>
                <a:lnTo>
                  <a:pt x="4639358" y="0"/>
                </a:lnTo>
                <a:lnTo>
                  <a:pt x="4639358" y="4639357"/>
                </a:lnTo>
                <a:lnTo>
                  <a:pt x="0" y="4639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33500" y="1590675"/>
            <a:ext cx="8572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8C5C8"/>
                </a:solidFill>
                <a:latin typeface="DM Sans Bold"/>
                <a:ea typeface="DM Sans Bold"/>
                <a:cs typeface="DM Sans Bold"/>
                <a:sym typeface="DM Sans Bold"/>
              </a:rPr>
              <a:t>PROJET DE FIN D’ANNÉE  ·  SOUTENANCE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3500" y="3124200"/>
            <a:ext cx="14287500" cy="144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87"/>
              </a:lnSpc>
            </a:pPr>
            <a:r>
              <a:rPr lang="en-US" sz="11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BESTMARK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750" y="4733925"/>
            <a:ext cx="990600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 site web simple pour gérer un magasin.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750" y="7867650"/>
            <a:ext cx="12382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DCE8EC"/>
                </a:solidFill>
                <a:latin typeface="DM Sans"/>
                <a:ea typeface="DM Sans"/>
                <a:cs typeface="DM Sans"/>
                <a:sym typeface="DM Sans"/>
              </a:rPr>
              <a:t>HASNAOUI Aimad  ·  N° 165734  ·  Tuteur : Mr Abdelmajid BOUHOU  ·  2025/2026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5F748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BESTMARK  /  01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11200"/>
              <a:ext cx="19050000" cy="925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97"/>
                </a:lnSpc>
              </a:pPr>
              <a:r>
                <a:rPr lang="en-US" sz="4950" b="tru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Sommaire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1047750" y="4095750"/>
            <a:ext cx="2571750" cy="1809750"/>
            <a:chOff x="0" y="0"/>
            <a:chExt cx="3429000" cy="241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429000">
                  <a:moveTo>
                    <a:pt x="84667" y="0"/>
                  </a:moveTo>
                  <a:lnTo>
                    <a:pt x="3344333" y="0"/>
                  </a:lnTo>
                  <a:cubicBezTo>
                    <a:pt x="3391093" y="0"/>
                    <a:pt x="3429000" y="37907"/>
                    <a:pt x="3429000" y="84667"/>
                  </a:cubicBezTo>
                  <a:lnTo>
                    <a:pt x="3429000" y="2328333"/>
                  </a:lnTo>
                  <a:cubicBezTo>
                    <a:pt x="3429000" y="2375093"/>
                    <a:pt x="3391093" y="2413000"/>
                    <a:pt x="3344333" y="2413000"/>
                  </a:cubicBezTo>
                  <a:lnTo>
                    <a:pt x="84667" y="2413000"/>
                  </a:lnTo>
                  <a:cubicBezTo>
                    <a:pt x="37907" y="2413000"/>
                    <a:pt x="0" y="2375093"/>
                    <a:pt x="0" y="2328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3429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8C5C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3667125" y="5000625"/>
            <a:ext cx="571500" cy="0"/>
          </a:xfrm>
          <a:prstGeom prst="line">
            <a:avLst/>
          </a:prstGeom>
          <a:ln cap="rnd" w="47625">
            <a:solidFill>
              <a:srgbClr val="DCE8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4381500" y="4095750"/>
            <a:ext cx="2571750" cy="1809750"/>
            <a:chOff x="0" y="0"/>
            <a:chExt cx="3429000" cy="2413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29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429000">
                  <a:moveTo>
                    <a:pt x="84667" y="0"/>
                  </a:moveTo>
                  <a:lnTo>
                    <a:pt x="3344333" y="0"/>
                  </a:lnTo>
                  <a:cubicBezTo>
                    <a:pt x="3391093" y="0"/>
                    <a:pt x="3429000" y="37907"/>
                    <a:pt x="3429000" y="84667"/>
                  </a:cubicBezTo>
                  <a:lnTo>
                    <a:pt x="3429000" y="2328333"/>
                  </a:lnTo>
                  <a:cubicBezTo>
                    <a:pt x="3429000" y="2375093"/>
                    <a:pt x="3391093" y="2413000"/>
                    <a:pt x="3344333" y="2413000"/>
                  </a:cubicBezTo>
                  <a:lnTo>
                    <a:pt x="84667" y="2413000"/>
                  </a:lnTo>
                  <a:cubicBezTo>
                    <a:pt x="37907" y="2413000"/>
                    <a:pt x="0" y="2375093"/>
                    <a:pt x="0" y="2328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3429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8C5C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7000875" y="5000625"/>
            <a:ext cx="571500" cy="0"/>
          </a:xfrm>
          <a:prstGeom prst="line">
            <a:avLst/>
          </a:prstGeom>
          <a:ln cap="rnd" w="47625">
            <a:solidFill>
              <a:srgbClr val="DCE8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7715250" y="4095750"/>
            <a:ext cx="2571750" cy="1809750"/>
            <a:chOff x="0" y="0"/>
            <a:chExt cx="3429000" cy="241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29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429000">
                  <a:moveTo>
                    <a:pt x="84667" y="0"/>
                  </a:moveTo>
                  <a:lnTo>
                    <a:pt x="3344333" y="0"/>
                  </a:lnTo>
                  <a:cubicBezTo>
                    <a:pt x="3391093" y="0"/>
                    <a:pt x="3429000" y="37907"/>
                    <a:pt x="3429000" y="84667"/>
                  </a:cubicBezTo>
                  <a:lnTo>
                    <a:pt x="3429000" y="2328333"/>
                  </a:lnTo>
                  <a:cubicBezTo>
                    <a:pt x="3429000" y="2375093"/>
                    <a:pt x="3391093" y="2413000"/>
                    <a:pt x="3344333" y="2413000"/>
                  </a:cubicBezTo>
                  <a:lnTo>
                    <a:pt x="84667" y="2413000"/>
                  </a:lnTo>
                  <a:cubicBezTo>
                    <a:pt x="37907" y="2413000"/>
                    <a:pt x="0" y="2375093"/>
                    <a:pt x="0" y="2328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3429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8C5C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0334625" y="5000625"/>
            <a:ext cx="571500" cy="0"/>
          </a:xfrm>
          <a:prstGeom prst="line">
            <a:avLst/>
          </a:prstGeom>
          <a:ln cap="rnd" w="47625">
            <a:solidFill>
              <a:srgbClr val="DCE8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11049000" y="4095750"/>
            <a:ext cx="2571750" cy="1809750"/>
            <a:chOff x="0" y="0"/>
            <a:chExt cx="3429000" cy="2413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29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429000">
                  <a:moveTo>
                    <a:pt x="84667" y="0"/>
                  </a:moveTo>
                  <a:lnTo>
                    <a:pt x="3344333" y="0"/>
                  </a:lnTo>
                  <a:cubicBezTo>
                    <a:pt x="3391093" y="0"/>
                    <a:pt x="3429000" y="37907"/>
                    <a:pt x="3429000" y="84667"/>
                  </a:cubicBezTo>
                  <a:lnTo>
                    <a:pt x="3429000" y="2328333"/>
                  </a:lnTo>
                  <a:cubicBezTo>
                    <a:pt x="3429000" y="2375093"/>
                    <a:pt x="3391093" y="2413000"/>
                    <a:pt x="3344333" y="2413000"/>
                  </a:cubicBezTo>
                  <a:lnTo>
                    <a:pt x="84667" y="2413000"/>
                  </a:lnTo>
                  <a:cubicBezTo>
                    <a:pt x="37907" y="2413000"/>
                    <a:pt x="0" y="2375093"/>
                    <a:pt x="0" y="2328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3429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18C5C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3668375" y="5000625"/>
            <a:ext cx="571500" cy="0"/>
          </a:xfrm>
          <a:prstGeom prst="line">
            <a:avLst/>
          </a:prstGeom>
          <a:ln cap="rnd" w="47625">
            <a:solidFill>
              <a:srgbClr val="DCE8EC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14382750" y="4095750"/>
            <a:ext cx="2571750" cy="1809750"/>
            <a:chOff x="0" y="0"/>
            <a:chExt cx="3429000" cy="2413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29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429000">
                  <a:moveTo>
                    <a:pt x="84667" y="0"/>
                  </a:moveTo>
                  <a:lnTo>
                    <a:pt x="3344333" y="0"/>
                  </a:lnTo>
                  <a:cubicBezTo>
                    <a:pt x="3391093" y="0"/>
                    <a:pt x="3429000" y="37907"/>
                    <a:pt x="3429000" y="84667"/>
                  </a:cubicBezTo>
                  <a:lnTo>
                    <a:pt x="3429000" y="2328333"/>
                  </a:lnTo>
                  <a:cubicBezTo>
                    <a:pt x="3429000" y="2375093"/>
                    <a:pt x="3391093" y="2413000"/>
                    <a:pt x="3344333" y="2413000"/>
                  </a:cubicBezTo>
                  <a:lnTo>
                    <a:pt x="84667" y="2413000"/>
                  </a:lnTo>
                  <a:cubicBezTo>
                    <a:pt x="37907" y="2413000"/>
                    <a:pt x="0" y="2375093"/>
                    <a:pt x="0" y="23283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solidFill>
              <a:srgbClr val="18C5C8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3429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57250" y="6143625"/>
            <a:ext cx="29527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 site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91000" y="6143625"/>
            <a:ext cx="29527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Pourquoi 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24750" y="6143625"/>
            <a:ext cx="29527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Technologies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58500" y="6143625"/>
            <a:ext cx="29527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Démonstration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92250" y="6143625"/>
            <a:ext cx="29527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5F748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BESTMARK  /  02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11200"/>
              <a:ext cx="19050000" cy="925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97"/>
                </a:lnSpc>
                <a:spcBef>
                  <a:spcPct val="0"/>
                </a:spcBef>
              </a:pPr>
              <a:r>
                <a:rPr lang="en-US" b="true" sz="49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C’est quoi BESTMARK ?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952500" y="3000375"/>
            <a:ext cx="3905250" cy="3648075"/>
            <a:chOff x="0" y="0"/>
            <a:chExt cx="5207000" cy="48641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207000" cy="4864100"/>
              <a:chOff x="0" y="0"/>
              <a:chExt cx="5207000" cy="48641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207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207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81000" y="339725"/>
              <a:ext cx="1270000" cy="119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59"/>
                </a:lnSpc>
              </a:pPr>
              <a:r>
                <a:rPr lang="en-US" sz="5400" b="true">
                  <a:solidFill>
                    <a:srgbClr val="18C5C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81000" y="2301875"/>
              <a:ext cx="4572000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5"/>
                </a:lnSpc>
                <a:spcBef>
                  <a:spcPct val="0"/>
                </a:spcBef>
              </a:pPr>
              <a:r>
                <a:rPr lang="en-US" b="true" sz="2625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Un site web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81000" y="3263900"/>
              <a:ext cx="4445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35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02A3A"/>
                  </a:solidFill>
                  <a:latin typeface="DM Sans"/>
                  <a:ea typeface="DM Sans"/>
                  <a:cs typeface="DM Sans"/>
                  <a:sym typeface="DM Sans"/>
                </a:rPr>
                <a:t>Pour gérer un magasin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286375" y="3000375"/>
            <a:ext cx="3905250" cy="4000500"/>
            <a:chOff x="0" y="0"/>
            <a:chExt cx="5207000" cy="5334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5207000" cy="5334000"/>
              <a:chOff x="0" y="0"/>
              <a:chExt cx="5207000" cy="5334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207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5207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81000" y="339725"/>
              <a:ext cx="1270000" cy="119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59"/>
                </a:lnSpc>
              </a:pPr>
              <a:r>
                <a:rPr lang="en-US" sz="5400" b="true">
                  <a:solidFill>
                    <a:srgbClr val="18C5C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81000" y="2301875"/>
              <a:ext cx="4572000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5"/>
                </a:lnSpc>
                <a:spcBef>
                  <a:spcPct val="0"/>
                </a:spcBef>
              </a:pPr>
              <a:r>
                <a:rPr lang="en-US" b="true" sz="2625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 personnel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81000" y="3263900"/>
              <a:ext cx="4445000" cy="924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35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02A3A"/>
                  </a:solidFill>
                  <a:latin typeface="DM Sans"/>
                  <a:ea typeface="DM Sans"/>
                  <a:cs typeface="DM Sans"/>
                  <a:sym typeface="DM Sans"/>
                </a:rPr>
                <a:t>Gérant, vendeurs, magasiniers, livreurs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20250" y="3000375"/>
            <a:ext cx="3905250" cy="4352925"/>
            <a:chOff x="0" y="0"/>
            <a:chExt cx="5207000" cy="58039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207000" cy="5803900"/>
              <a:chOff x="0" y="0"/>
              <a:chExt cx="5207000" cy="58039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207000" cy="5803900"/>
              </a:xfrm>
              <a:custGeom>
                <a:avLst/>
                <a:gdLst/>
                <a:ahLst/>
                <a:cxnLst/>
                <a:rect r="r" b="b" t="t" l="l"/>
                <a:pathLst>
                  <a:path h="58039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5803900"/>
                    </a:lnTo>
                    <a:lnTo>
                      <a:pt x="0" y="58039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5207000" cy="5842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81000" y="339725"/>
              <a:ext cx="1270000" cy="119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59"/>
                </a:lnSpc>
              </a:pPr>
              <a:r>
                <a:rPr lang="en-US" sz="5400" b="true">
                  <a:solidFill>
                    <a:srgbClr val="18C5C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81000" y="2301875"/>
              <a:ext cx="4572000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5"/>
                </a:lnSpc>
                <a:spcBef>
                  <a:spcPct val="0"/>
                </a:spcBef>
              </a:pPr>
              <a:r>
                <a:rPr lang="en-US" b="true" sz="2625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Tout en un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381000" y="3263900"/>
              <a:ext cx="4445000" cy="924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35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02A3A"/>
                  </a:solidFill>
                  <a:latin typeface="DM Sans"/>
                  <a:ea typeface="DM Sans"/>
                  <a:cs typeface="DM Sans"/>
                  <a:sym typeface="DM Sans"/>
                </a:rPr>
                <a:t>Produits, stock, ventes, employés, argent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954125" y="3000375"/>
            <a:ext cx="3905250" cy="4000500"/>
            <a:chOff x="0" y="0"/>
            <a:chExt cx="5207000" cy="53340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5207000" cy="5334000"/>
              <a:chOff x="0" y="0"/>
              <a:chExt cx="5207000" cy="5334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207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5207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81000" y="339725"/>
              <a:ext cx="1270000" cy="119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59"/>
                </a:lnSpc>
              </a:pPr>
              <a:r>
                <a:rPr lang="en-US" sz="5400" b="true">
                  <a:solidFill>
                    <a:srgbClr val="18C5C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81000" y="2301875"/>
              <a:ext cx="4572000" cy="58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75"/>
                </a:lnSpc>
                <a:spcBef>
                  <a:spcPct val="0"/>
                </a:spcBef>
              </a:pPr>
              <a:r>
                <a:rPr lang="en-US" b="true" sz="2625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Simple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81000" y="3263900"/>
              <a:ext cx="4445000" cy="924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35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02A3A"/>
                  </a:solidFill>
                  <a:latin typeface="DM Sans"/>
                  <a:ea typeface="DM Sans"/>
                  <a:cs typeface="DM Sans"/>
                  <a:sym typeface="DM Sans"/>
                </a:rPr>
                <a:t>Dans le navigateur, sans installation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5F748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BESTMARK  /  03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11200"/>
              <a:ext cx="19050000" cy="925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97"/>
                </a:lnSpc>
                <a:spcBef>
                  <a:spcPct val="0"/>
                </a:spcBef>
              </a:pPr>
              <a:r>
                <a:rPr lang="en-US" b="true" sz="49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Pourquoi ce site ?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857250" y="3000375"/>
            <a:ext cx="6858000" cy="5400675"/>
            <a:chOff x="0" y="0"/>
            <a:chExt cx="9144000" cy="72009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144000" cy="7200900"/>
              <a:chOff x="0" y="0"/>
              <a:chExt cx="9144000" cy="72009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144000" cy="7200900"/>
              </a:xfrm>
              <a:custGeom>
                <a:avLst/>
                <a:gdLst/>
                <a:ahLst/>
                <a:cxnLst/>
                <a:rect r="r" b="b" t="t" l="l"/>
                <a:pathLst>
                  <a:path h="72009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7200900"/>
                    </a:lnTo>
                    <a:lnTo>
                      <a:pt x="0" y="72009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9144000" cy="7239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08000" y="288925"/>
              <a:ext cx="508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EF6A6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AVANT : LE PROBLÈME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508000" y="974725"/>
              <a:ext cx="7874000" cy="2314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02A3A"/>
                  </a:solidFill>
                  <a:latin typeface="DM Sans"/>
                  <a:ea typeface="DM Sans"/>
                  <a:cs typeface="DM Sans"/>
                  <a:sym typeface="DM Sans"/>
                </a:rPr>
                <a:t>Cahiers papier ou Excel</a:t>
              </a:r>
            </a:p>
            <a:p>
              <a:pPr algn="l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02A3A"/>
                  </a:solidFill>
                  <a:latin typeface="DM Sans"/>
                  <a:ea typeface="DM Sans"/>
                  <a:cs typeface="DM Sans"/>
                  <a:sym typeface="DM Sans"/>
                </a:rPr>
                <a:t>Erreurs dans le stock</a:t>
              </a:r>
            </a:p>
            <a:p>
              <a:pPr algn="l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02A3A"/>
                  </a:solidFill>
                  <a:latin typeface="DM Sans"/>
                  <a:ea typeface="DM Sans"/>
                  <a:cs typeface="DM Sans"/>
                  <a:sym typeface="DM Sans"/>
                </a:rPr>
                <a:t>Beaucoup de temps perdu</a:t>
              </a:r>
            </a:p>
            <a:p>
              <a:pPr algn="l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02A3A"/>
                  </a:solidFill>
                  <a:latin typeface="DM Sans"/>
                  <a:ea typeface="DM Sans"/>
                  <a:cs typeface="DM Sans"/>
                  <a:sym typeface="DM Sans"/>
                </a:rPr>
                <a:t>On ne voit pas bien l’argent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096250" y="5476875"/>
            <a:ext cx="2000250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5" id="15"/>
          <p:cNvGrpSpPr/>
          <p:nvPr/>
        </p:nvGrpSpPr>
        <p:grpSpPr>
          <a:xfrm rot="0">
            <a:off x="10572750" y="3000375"/>
            <a:ext cx="6858000" cy="5400675"/>
            <a:chOff x="0" y="0"/>
            <a:chExt cx="9144000" cy="72009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9144000" cy="7200900"/>
              <a:chOff x="0" y="0"/>
              <a:chExt cx="9144000" cy="72009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144000" cy="7200900"/>
              </a:xfrm>
              <a:custGeom>
                <a:avLst/>
                <a:gdLst/>
                <a:ahLst/>
                <a:cxnLst/>
                <a:rect r="r" b="b" t="t" l="l"/>
                <a:pathLst>
                  <a:path h="7200900" w="9144000">
                    <a:moveTo>
                      <a:pt x="0" y="0"/>
                    </a:moveTo>
                    <a:lnTo>
                      <a:pt x="9144000" y="0"/>
                    </a:lnTo>
                    <a:lnTo>
                      <a:pt x="9144000" y="7200900"/>
                    </a:lnTo>
                    <a:lnTo>
                      <a:pt x="0" y="7200900"/>
                    </a:lnTo>
                    <a:close/>
                  </a:path>
                </a:pathLst>
              </a:custGeom>
              <a:solidFill>
                <a:srgbClr val="081C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9144000" cy="7239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635000" y="288925"/>
              <a:ext cx="508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18C5C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APRÈS : BESTMARK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635000" y="974725"/>
              <a:ext cx="7874000" cy="2314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Un seul outil simple</a:t>
              </a:r>
            </a:p>
            <a:p>
              <a:pPr algn="l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Un stock toujours juste</a:t>
              </a:r>
            </a:p>
            <a:p>
              <a:pPr algn="l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Un travail plus rapide</a:t>
              </a:r>
            </a:p>
            <a:p>
              <a:pPr algn="l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Des finances claires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18C5C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BESTMARK  /  04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11200"/>
              <a:ext cx="19050000" cy="925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97"/>
                </a:lnSpc>
                <a:spcBef>
                  <a:spcPct val="0"/>
                </a:spcBef>
              </a:pPr>
              <a:r>
                <a:rPr lang="en-US" b="true" sz="4950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Les technologies utilisées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1714500" y="3333750"/>
            <a:ext cx="2667000" cy="1428750"/>
            <a:chOff x="0" y="0"/>
            <a:chExt cx="3556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823357"/>
                  </a:lnTo>
                  <a:cubicBezTo>
                    <a:pt x="3556000" y="1868447"/>
                    <a:pt x="3519447" y="1905000"/>
                    <a:pt x="3474357" y="1905000"/>
                  </a:cubicBezTo>
                  <a:lnTo>
                    <a:pt x="81643" y="1905000"/>
                  </a:lnTo>
                  <a:cubicBezTo>
                    <a:pt x="36553" y="1905000"/>
                    <a:pt x="0" y="1868447"/>
                    <a:pt x="0" y="1823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8C5C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3556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React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810250" y="3333750"/>
            <a:ext cx="2667000" cy="1428750"/>
            <a:chOff x="0" y="0"/>
            <a:chExt cx="35560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5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823357"/>
                  </a:lnTo>
                  <a:cubicBezTo>
                    <a:pt x="3556000" y="1868447"/>
                    <a:pt x="3519447" y="1905000"/>
                    <a:pt x="3474357" y="1905000"/>
                  </a:cubicBezTo>
                  <a:lnTo>
                    <a:pt x="81643" y="1905000"/>
                  </a:lnTo>
                  <a:cubicBezTo>
                    <a:pt x="36553" y="1905000"/>
                    <a:pt x="0" y="1868447"/>
                    <a:pt x="0" y="1823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3556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Tailwind CSS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06000" y="3333750"/>
            <a:ext cx="2667000" cy="1428750"/>
            <a:chOff x="0" y="0"/>
            <a:chExt cx="3556000" cy="190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5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823357"/>
                  </a:lnTo>
                  <a:cubicBezTo>
                    <a:pt x="3556000" y="1868447"/>
                    <a:pt x="3519447" y="1905000"/>
                    <a:pt x="3474357" y="1905000"/>
                  </a:cubicBezTo>
                  <a:lnTo>
                    <a:pt x="81643" y="1905000"/>
                  </a:lnTo>
                  <a:cubicBezTo>
                    <a:pt x="36553" y="1905000"/>
                    <a:pt x="0" y="1868447"/>
                    <a:pt x="0" y="1823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3556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Node.js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001750" y="3333750"/>
            <a:ext cx="2667000" cy="1428750"/>
            <a:chOff x="0" y="0"/>
            <a:chExt cx="3556000" cy="190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5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823357"/>
                  </a:lnTo>
                  <a:cubicBezTo>
                    <a:pt x="3556000" y="1868447"/>
                    <a:pt x="3519447" y="1905000"/>
                    <a:pt x="3474357" y="1905000"/>
                  </a:cubicBezTo>
                  <a:lnTo>
                    <a:pt x="81643" y="1905000"/>
                  </a:lnTo>
                  <a:cubicBezTo>
                    <a:pt x="36553" y="1905000"/>
                    <a:pt x="0" y="1868447"/>
                    <a:pt x="0" y="1823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3556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Express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762375" y="6191250"/>
            <a:ext cx="2667000" cy="1428750"/>
            <a:chOff x="0" y="0"/>
            <a:chExt cx="3556000" cy="190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5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823357"/>
                  </a:lnTo>
                  <a:cubicBezTo>
                    <a:pt x="3556000" y="1868447"/>
                    <a:pt x="3519447" y="1905000"/>
                    <a:pt x="3474357" y="1905000"/>
                  </a:cubicBezTo>
                  <a:lnTo>
                    <a:pt x="81643" y="1905000"/>
                  </a:lnTo>
                  <a:cubicBezTo>
                    <a:pt x="36553" y="1905000"/>
                    <a:pt x="0" y="1868447"/>
                    <a:pt x="0" y="1823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8C5C8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3556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MongoDB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953875" y="6191250"/>
            <a:ext cx="2667000" cy="1428750"/>
            <a:chOff x="0" y="0"/>
            <a:chExt cx="35560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56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823357"/>
                  </a:lnTo>
                  <a:cubicBezTo>
                    <a:pt x="3556000" y="1868447"/>
                    <a:pt x="3519447" y="1905000"/>
                    <a:pt x="3474357" y="1905000"/>
                  </a:cubicBezTo>
                  <a:lnTo>
                    <a:pt x="81643" y="1905000"/>
                  </a:lnTo>
                  <a:cubicBezTo>
                    <a:pt x="36553" y="1905000"/>
                    <a:pt x="0" y="1868447"/>
                    <a:pt x="0" y="1823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3556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JWT + bcrypt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5F748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BESTMARK  /  05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01675"/>
              <a:ext cx="19050000" cy="862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3"/>
                </a:lnSpc>
                <a:spcBef>
                  <a:spcPct val="0"/>
                </a:spcBef>
              </a:pPr>
              <a:r>
                <a:rPr lang="en-US" b="true" sz="4575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Pourquoi ces technologies ?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1047750" y="3000375"/>
            <a:ext cx="16192500" cy="1190625"/>
            <a:chOff x="0" y="0"/>
            <a:chExt cx="21590000" cy="15875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1590000" cy="1587500"/>
              <a:chOff x="0" y="0"/>
              <a:chExt cx="21590000" cy="15875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590000" cy="1587500"/>
              </a:xfrm>
              <a:custGeom>
                <a:avLst/>
                <a:gdLst/>
                <a:ahLst/>
                <a:cxnLst/>
                <a:rect r="r" b="b" t="t" l="l"/>
                <a:pathLst>
                  <a:path h="15875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1590000" cy="162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35000" y="406400"/>
              <a:ext cx="6985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React + Tailwind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8255000" y="787400"/>
              <a:ext cx="3429000" cy="0"/>
            </a:xfrm>
            <a:prstGeom prst="line">
              <a:avLst/>
            </a:prstGeom>
            <a:ln cap="rnd" w="63500">
              <a:solidFill>
                <a:srgbClr val="18C5C8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12700000" y="406400"/>
              <a:ext cx="7874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18C5C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Pages rapides et réutilisables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7750" y="4572000"/>
            <a:ext cx="16192500" cy="1190625"/>
            <a:chOff x="0" y="0"/>
            <a:chExt cx="21590000" cy="15875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1590000" cy="1587500"/>
              <a:chOff x="0" y="0"/>
              <a:chExt cx="21590000" cy="1587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590000" cy="1587500"/>
              </a:xfrm>
              <a:custGeom>
                <a:avLst/>
                <a:gdLst/>
                <a:ahLst/>
                <a:cxnLst/>
                <a:rect r="r" b="b" t="t" l="l"/>
                <a:pathLst>
                  <a:path h="15875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1590000" cy="162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635000" y="406400"/>
              <a:ext cx="6985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Node.js + Express</a:t>
              </a:r>
            </a:p>
          </p:txBody>
        </p:sp>
        <p:sp>
          <p:nvSpPr>
            <p:cNvPr name="AutoShape 20" id="20"/>
            <p:cNvSpPr/>
            <p:nvPr/>
          </p:nvSpPr>
          <p:spPr>
            <a:xfrm>
              <a:off x="8255000" y="787400"/>
              <a:ext cx="3429000" cy="0"/>
            </a:xfrm>
            <a:prstGeom prst="line">
              <a:avLst/>
            </a:prstGeom>
            <a:ln cap="rnd" w="63500">
              <a:solidFill>
                <a:srgbClr val="18C5C8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21" id="21"/>
            <p:cNvSpPr txBox="true"/>
            <p:nvPr/>
          </p:nvSpPr>
          <p:spPr>
            <a:xfrm rot="0">
              <a:off x="12700000" y="406400"/>
              <a:ext cx="7874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18C5C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Un seul langage : JavaScript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47750" y="6143625"/>
            <a:ext cx="16192500" cy="1190625"/>
            <a:chOff x="0" y="0"/>
            <a:chExt cx="21590000" cy="15875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1590000" cy="1587500"/>
              <a:chOff x="0" y="0"/>
              <a:chExt cx="21590000" cy="15875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1590000" cy="1587500"/>
              </a:xfrm>
              <a:custGeom>
                <a:avLst/>
                <a:gdLst/>
                <a:ahLst/>
                <a:cxnLst/>
                <a:rect r="r" b="b" t="t" l="l"/>
                <a:pathLst>
                  <a:path h="15875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1590000" cy="162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35000" y="406400"/>
              <a:ext cx="6985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MongoDB</a:t>
              </a:r>
            </a:p>
          </p:txBody>
        </p:sp>
        <p:sp>
          <p:nvSpPr>
            <p:cNvPr name="AutoShape 27" id="27"/>
            <p:cNvSpPr/>
            <p:nvPr/>
          </p:nvSpPr>
          <p:spPr>
            <a:xfrm>
              <a:off x="8255000" y="787400"/>
              <a:ext cx="3429000" cy="0"/>
            </a:xfrm>
            <a:prstGeom prst="line">
              <a:avLst/>
            </a:prstGeom>
            <a:ln cap="rnd" w="63500">
              <a:solidFill>
                <a:srgbClr val="18C5C8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28" id="28"/>
            <p:cNvSpPr txBox="true"/>
            <p:nvPr/>
          </p:nvSpPr>
          <p:spPr>
            <a:xfrm rot="0">
              <a:off x="12700000" y="406400"/>
              <a:ext cx="7874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18C5C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Base flexible, facile à changer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47750" y="7715250"/>
            <a:ext cx="16192500" cy="1190625"/>
            <a:chOff x="0" y="0"/>
            <a:chExt cx="21590000" cy="15875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21590000" cy="1587500"/>
              <a:chOff x="0" y="0"/>
              <a:chExt cx="21590000" cy="15875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1590000" cy="1587500"/>
              </a:xfrm>
              <a:custGeom>
                <a:avLst/>
                <a:gdLst/>
                <a:ahLst/>
                <a:cxnLst/>
                <a:rect r="r" b="b" t="t" l="l"/>
                <a:pathLst>
                  <a:path h="1587500" w="21590000">
                    <a:moveTo>
                      <a:pt x="0" y="0"/>
                    </a:moveTo>
                    <a:lnTo>
                      <a:pt x="21590000" y="0"/>
                    </a:lnTo>
                    <a:lnTo>
                      <a:pt x="21590000" y="1587500"/>
                    </a:lnTo>
                    <a:lnTo>
                      <a:pt x="0" y="1587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21590000" cy="162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635000" y="406400"/>
              <a:ext cx="6985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JWT + bcrypt</a:t>
              </a:r>
            </a:p>
          </p:txBody>
        </p:sp>
        <p:sp>
          <p:nvSpPr>
            <p:cNvPr name="AutoShape 34" id="34"/>
            <p:cNvSpPr/>
            <p:nvPr/>
          </p:nvSpPr>
          <p:spPr>
            <a:xfrm>
              <a:off x="8255000" y="787400"/>
              <a:ext cx="3429000" cy="0"/>
            </a:xfrm>
            <a:prstGeom prst="line">
              <a:avLst/>
            </a:prstGeom>
            <a:ln cap="rnd" w="63500">
              <a:solidFill>
                <a:srgbClr val="18C5C8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TextBox 35" id="35"/>
            <p:cNvSpPr txBox="true"/>
            <p:nvPr/>
          </p:nvSpPr>
          <p:spPr>
            <a:xfrm rot="0">
              <a:off x="12700000" y="406400"/>
              <a:ext cx="78740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18C5C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Connexion et mots de passe sûrs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5F748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BESTMARK  /  06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01675"/>
              <a:ext cx="19050000" cy="862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3"/>
                </a:lnSpc>
                <a:spcBef>
                  <a:spcPct val="0"/>
                </a:spcBef>
              </a:pPr>
              <a:r>
                <a:rPr lang="en-US" b="true" sz="4575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Comment le site fonctionne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1714500" y="3143250"/>
            <a:ext cx="14859000" cy="1143000"/>
            <a:chOff x="0" y="0"/>
            <a:chExt cx="19812000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1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9812000">
                  <a:moveTo>
                    <a:pt x="14654" y="0"/>
                  </a:moveTo>
                  <a:lnTo>
                    <a:pt x="19797347" y="0"/>
                  </a:lnTo>
                  <a:cubicBezTo>
                    <a:pt x="19801233" y="0"/>
                    <a:pt x="19804960" y="1544"/>
                    <a:pt x="19807709" y="4292"/>
                  </a:cubicBezTo>
                  <a:cubicBezTo>
                    <a:pt x="19810456" y="7040"/>
                    <a:pt x="19812000" y="10767"/>
                    <a:pt x="19812000" y="14654"/>
                  </a:cubicBezTo>
                  <a:lnTo>
                    <a:pt x="19812000" y="1509346"/>
                  </a:lnTo>
                  <a:cubicBezTo>
                    <a:pt x="19812000" y="1513233"/>
                    <a:pt x="19810456" y="1516960"/>
                    <a:pt x="19807709" y="1519708"/>
                  </a:cubicBezTo>
                  <a:cubicBezTo>
                    <a:pt x="19804960" y="1522456"/>
                    <a:pt x="19801233" y="1524000"/>
                    <a:pt x="19797347" y="1524000"/>
                  </a:cubicBezTo>
                  <a:lnTo>
                    <a:pt x="14654" y="1524000"/>
                  </a:lnTo>
                  <a:cubicBezTo>
                    <a:pt x="10767" y="1524000"/>
                    <a:pt x="7040" y="1522456"/>
                    <a:pt x="4292" y="1519708"/>
                  </a:cubicBezTo>
                  <a:cubicBezTo>
                    <a:pt x="1544" y="1516960"/>
                    <a:pt x="0" y="1513233"/>
                    <a:pt x="0" y="1509346"/>
                  </a:cubicBezTo>
                  <a:lnTo>
                    <a:pt x="0" y="14654"/>
                  </a:lnTo>
                  <a:cubicBezTo>
                    <a:pt x="0" y="10767"/>
                    <a:pt x="1544" y="7040"/>
                    <a:pt x="4292" y="4292"/>
                  </a:cubicBezTo>
                  <a:cubicBezTo>
                    <a:pt x="7040" y="1544"/>
                    <a:pt x="10767" y="0"/>
                    <a:pt x="14654" y="0"/>
                  </a:cubicBezTo>
                  <a:close/>
                </a:path>
              </a:pathLst>
            </a:custGeom>
            <a:solidFill>
              <a:srgbClr val="18C5C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9812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NAVIGATEUR  ·  React  —  ce que l’utilisateur voit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4500" y="5095875"/>
            <a:ext cx="14859000" cy="1428750"/>
            <a:chOff x="0" y="0"/>
            <a:chExt cx="198120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1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812000">
                  <a:moveTo>
                    <a:pt x="14654" y="0"/>
                  </a:moveTo>
                  <a:lnTo>
                    <a:pt x="19797347" y="0"/>
                  </a:lnTo>
                  <a:cubicBezTo>
                    <a:pt x="19801233" y="0"/>
                    <a:pt x="19804960" y="1544"/>
                    <a:pt x="19807709" y="4292"/>
                  </a:cubicBezTo>
                  <a:cubicBezTo>
                    <a:pt x="19810456" y="7040"/>
                    <a:pt x="19812000" y="10767"/>
                    <a:pt x="19812000" y="14654"/>
                  </a:cubicBezTo>
                  <a:lnTo>
                    <a:pt x="19812000" y="1890346"/>
                  </a:lnTo>
                  <a:cubicBezTo>
                    <a:pt x="19812000" y="1894233"/>
                    <a:pt x="19810456" y="1897960"/>
                    <a:pt x="19807709" y="1900708"/>
                  </a:cubicBezTo>
                  <a:cubicBezTo>
                    <a:pt x="19804960" y="1903456"/>
                    <a:pt x="19801233" y="1905000"/>
                    <a:pt x="19797347" y="1905000"/>
                  </a:cubicBezTo>
                  <a:lnTo>
                    <a:pt x="14654" y="1905000"/>
                  </a:lnTo>
                  <a:cubicBezTo>
                    <a:pt x="10767" y="1905000"/>
                    <a:pt x="7040" y="1903456"/>
                    <a:pt x="4292" y="1900708"/>
                  </a:cubicBezTo>
                  <a:cubicBezTo>
                    <a:pt x="1544" y="1897960"/>
                    <a:pt x="0" y="1894233"/>
                    <a:pt x="0" y="1890346"/>
                  </a:cubicBezTo>
                  <a:lnTo>
                    <a:pt x="0" y="14654"/>
                  </a:lnTo>
                  <a:cubicBezTo>
                    <a:pt x="0" y="10767"/>
                    <a:pt x="1544" y="7040"/>
                    <a:pt x="4292" y="4292"/>
                  </a:cubicBezTo>
                  <a:cubicBezTo>
                    <a:pt x="7040" y="1544"/>
                    <a:pt x="10767" y="0"/>
                    <a:pt x="14654" y="0"/>
                  </a:cubicBezTo>
                  <a:close/>
                </a:path>
              </a:pathLst>
            </a:custGeom>
            <a:solidFill>
              <a:srgbClr val="081C2C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9812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API  ·  Node.js + Express  —  vérifie et traite les demandes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14500" y="7334250"/>
            <a:ext cx="14859000" cy="1143000"/>
            <a:chOff x="0" y="0"/>
            <a:chExt cx="198120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81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9812000">
                  <a:moveTo>
                    <a:pt x="14654" y="0"/>
                  </a:moveTo>
                  <a:lnTo>
                    <a:pt x="19797347" y="0"/>
                  </a:lnTo>
                  <a:cubicBezTo>
                    <a:pt x="19801233" y="0"/>
                    <a:pt x="19804960" y="1544"/>
                    <a:pt x="19807709" y="4292"/>
                  </a:cubicBezTo>
                  <a:cubicBezTo>
                    <a:pt x="19810456" y="7040"/>
                    <a:pt x="19812000" y="10767"/>
                    <a:pt x="19812000" y="14654"/>
                  </a:cubicBezTo>
                  <a:lnTo>
                    <a:pt x="19812000" y="1509346"/>
                  </a:lnTo>
                  <a:cubicBezTo>
                    <a:pt x="19812000" y="1513233"/>
                    <a:pt x="19810456" y="1516960"/>
                    <a:pt x="19807709" y="1519708"/>
                  </a:cubicBezTo>
                  <a:cubicBezTo>
                    <a:pt x="19804960" y="1522456"/>
                    <a:pt x="19801233" y="1524000"/>
                    <a:pt x="19797347" y="1524000"/>
                  </a:cubicBezTo>
                  <a:lnTo>
                    <a:pt x="14654" y="1524000"/>
                  </a:lnTo>
                  <a:cubicBezTo>
                    <a:pt x="10767" y="1524000"/>
                    <a:pt x="7040" y="1522456"/>
                    <a:pt x="4292" y="1519708"/>
                  </a:cubicBezTo>
                  <a:cubicBezTo>
                    <a:pt x="1544" y="1516960"/>
                    <a:pt x="0" y="1513233"/>
                    <a:pt x="0" y="1509346"/>
                  </a:cubicBezTo>
                  <a:lnTo>
                    <a:pt x="0" y="14654"/>
                  </a:lnTo>
                  <a:cubicBezTo>
                    <a:pt x="0" y="10767"/>
                    <a:pt x="1544" y="7040"/>
                    <a:pt x="4292" y="4292"/>
                  </a:cubicBezTo>
                  <a:cubicBezTo>
                    <a:pt x="7040" y="1544"/>
                    <a:pt x="10767" y="0"/>
                    <a:pt x="1465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9812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102A3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BASE DE DONNÉES  ·  MongoDB  —  garde les informations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9144000" y="4333875"/>
            <a:ext cx="0" cy="619125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>
            <a:off x="9144000" y="6619875"/>
            <a:ext cx="0" cy="57150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9" id="19"/>
          <p:cNvSpPr txBox="true"/>
          <p:nvPr/>
        </p:nvSpPr>
        <p:spPr>
          <a:xfrm rot="0">
            <a:off x="9810750" y="4391025"/>
            <a:ext cx="4953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5F7480"/>
                </a:solidFill>
                <a:latin typeface="DM Sans Bold"/>
                <a:ea typeface="DM Sans Bold"/>
                <a:cs typeface="DM Sans Bold"/>
                <a:sym typeface="DM Sans Bold"/>
              </a:rPr>
              <a:t>Connexion sécurisée (JWT)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00500" y="8820150"/>
            <a:ext cx="10287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 navigateur demande  →  l’API vérifie  →  la base répond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8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C5C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33500" y="1685925"/>
            <a:ext cx="8572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pc="198" strike="noStrike" u="none">
                <a:solidFill>
                  <a:srgbClr val="18C5C8"/>
                </a:solidFill>
                <a:latin typeface="DM Sans Bold"/>
                <a:ea typeface="DM Sans Bold"/>
                <a:cs typeface="DM Sans Bold"/>
                <a:sym typeface="DM Sans Bold"/>
              </a:rPr>
              <a:t>DÉMONSTRATION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3500" y="2952750"/>
            <a:ext cx="11906250" cy="186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45"/>
              </a:lnSpc>
              <a:spcBef>
                <a:spcPct val="0"/>
              </a:spcBef>
            </a:pPr>
            <a:r>
              <a:rPr lang="en-US" b="true" sz="69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Voyons le site</a:t>
            </a:r>
          </a:p>
          <a:p>
            <a:pPr algn="l" marL="0" indent="0" lvl="0">
              <a:lnSpc>
                <a:spcPts val="7245"/>
              </a:lnSpc>
              <a:spcBef>
                <a:spcPct val="0"/>
              </a:spcBef>
            </a:pPr>
            <a:r>
              <a:rPr lang="en-US" b="true" sz="69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 action.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500" y="7191375"/>
            <a:ext cx="15240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DCE8EC"/>
                </a:solidFill>
                <a:latin typeface="DM Sans Bold"/>
                <a:ea typeface="DM Sans Bold"/>
                <a:cs typeface="DM Sans Bold"/>
                <a:sym typeface="DM Sans Bold"/>
              </a:rPr>
              <a:t>1. Utilisateurs et permissions      2. Les pages du site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5F748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DÉMO 1  /  07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11200"/>
              <a:ext cx="19050000" cy="925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97"/>
                </a:lnSpc>
                <a:spcBef>
                  <a:spcPct val="0"/>
                </a:spcBef>
              </a:pPr>
              <a:r>
                <a:rPr lang="en-US" b="true" sz="49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Créer un utilisateur et ses permissions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1524000" y="3000375"/>
            <a:ext cx="4191000" cy="3173730"/>
            <a:chOff x="0" y="0"/>
            <a:chExt cx="5588000" cy="423164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968500" y="0"/>
              <a:ext cx="1651000" cy="1651000"/>
              <a:chOff x="0" y="0"/>
              <a:chExt cx="1651000" cy="1651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65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651000">
                    <a:moveTo>
                      <a:pt x="825500" y="0"/>
                    </a:moveTo>
                    <a:cubicBezTo>
                      <a:pt x="1281411" y="0"/>
                      <a:pt x="1651000" y="369589"/>
                      <a:pt x="1651000" y="825500"/>
                    </a:cubicBezTo>
                    <a:cubicBezTo>
                      <a:pt x="1651000" y="1281411"/>
                      <a:pt x="1281411" y="1651000"/>
                      <a:pt x="825500" y="1651000"/>
                    </a:cubicBezTo>
                    <a:cubicBezTo>
                      <a:pt x="369589" y="1651000"/>
                      <a:pt x="0" y="1281411"/>
                      <a:pt x="0" y="825500"/>
                    </a:cubicBezTo>
                    <a:cubicBezTo>
                      <a:pt x="0" y="369589"/>
                      <a:pt x="369589" y="0"/>
                      <a:pt x="825500" y="0"/>
                    </a:cubicBezTo>
                    <a:close/>
                  </a:path>
                </a:pathLst>
              </a:custGeom>
              <a:solidFill>
                <a:srgbClr val="081C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1651000" cy="16986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90"/>
                  </a:lnSpc>
                </a:pPr>
                <a:r>
                  <a:rPr lang="en-US" sz="285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01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1920875"/>
              <a:ext cx="5588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PERMISSIONS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882900"/>
              <a:ext cx="5588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35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02A3A"/>
                  </a:solidFill>
                  <a:latin typeface="DM Sans"/>
                  <a:ea typeface="DM Sans"/>
                  <a:cs typeface="DM Sans"/>
                  <a:sym typeface="DM Sans"/>
                </a:rPr>
                <a:t>Paramètres → Modèles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3835400"/>
              <a:ext cx="5588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18C5C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Voir, ajouter, modifier, supprimer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953250" y="3000375"/>
            <a:ext cx="4191000" cy="3173730"/>
            <a:chOff x="0" y="0"/>
            <a:chExt cx="5588000" cy="423164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1968500" y="0"/>
              <a:ext cx="1651000" cy="1651000"/>
              <a:chOff x="0" y="0"/>
              <a:chExt cx="1651000" cy="1651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65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651000">
                    <a:moveTo>
                      <a:pt x="825500" y="0"/>
                    </a:moveTo>
                    <a:cubicBezTo>
                      <a:pt x="1281411" y="0"/>
                      <a:pt x="1651000" y="369589"/>
                      <a:pt x="1651000" y="825500"/>
                    </a:cubicBezTo>
                    <a:cubicBezTo>
                      <a:pt x="1651000" y="1281411"/>
                      <a:pt x="1281411" y="1651000"/>
                      <a:pt x="825500" y="1651000"/>
                    </a:cubicBezTo>
                    <a:cubicBezTo>
                      <a:pt x="369589" y="1651000"/>
                      <a:pt x="0" y="1281411"/>
                      <a:pt x="0" y="825500"/>
                    </a:cubicBezTo>
                    <a:cubicBezTo>
                      <a:pt x="0" y="369589"/>
                      <a:pt x="369589" y="0"/>
                      <a:pt x="825500" y="0"/>
                    </a:cubicBez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1651000" cy="16986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90"/>
                  </a:lnSpc>
                </a:pPr>
                <a:r>
                  <a:rPr lang="en-US" sz="285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02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1920875"/>
              <a:ext cx="5588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TYPE D’EMPLOYÉ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2882900"/>
              <a:ext cx="5588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35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02A3A"/>
                  </a:solidFill>
                  <a:latin typeface="DM Sans"/>
                  <a:ea typeface="DM Sans"/>
                  <a:cs typeface="DM Sans"/>
                  <a:sym typeface="DM Sans"/>
                </a:rPr>
                <a:t>Ex : Vendeur, Magasinier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3835400"/>
              <a:ext cx="5588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18C5C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On choisit ses permissions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82500" y="3000375"/>
            <a:ext cx="4191000" cy="3173730"/>
            <a:chOff x="0" y="0"/>
            <a:chExt cx="5588000" cy="423164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1968500" y="0"/>
              <a:ext cx="1651000" cy="1651000"/>
              <a:chOff x="0" y="0"/>
              <a:chExt cx="1651000" cy="1651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65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651000">
                    <a:moveTo>
                      <a:pt x="825500" y="0"/>
                    </a:moveTo>
                    <a:cubicBezTo>
                      <a:pt x="1281411" y="0"/>
                      <a:pt x="1651000" y="369589"/>
                      <a:pt x="1651000" y="825500"/>
                    </a:cubicBezTo>
                    <a:cubicBezTo>
                      <a:pt x="1651000" y="1281411"/>
                      <a:pt x="1281411" y="1651000"/>
                      <a:pt x="825500" y="1651000"/>
                    </a:cubicBezTo>
                    <a:cubicBezTo>
                      <a:pt x="369589" y="1651000"/>
                      <a:pt x="0" y="1281411"/>
                      <a:pt x="0" y="825500"/>
                    </a:cubicBezTo>
                    <a:cubicBezTo>
                      <a:pt x="0" y="369589"/>
                      <a:pt x="369589" y="0"/>
                      <a:pt x="825500" y="0"/>
                    </a:cubicBez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1651000" cy="16986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90"/>
                  </a:lnSpc>
                </a:pPr>
                <a:r>
                  <a:rPr lang="en-US" sz="2850" b="true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03</a:t>
                </a: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1920875"/>
              <a:ext cx="5588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69"/>
                </a:lnSpc>
                <a:spcBef>
                  <a:spcPct val="0"/>
                </a:spcBef>
              </a:pPr>
              <a:r>
                <a:rPr lang="en-US" b="true" sz="25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EMPLOYÉ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2882900"/>
              <a:ext cx="5588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35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02A3A"/>
                  </a:solidFill>
                  <a:latin typeface="DM Sans"/>
                  <a:ea typeface="DM Sans"/>
                  <a:cs typeface="DM Sans"/>
                  <a:sym typeface="DM Sans"/>
                </a:rPr>
                <a:t>On le crée avec son type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3835400"/>
              <a:ext cx="5588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18C5C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Il voit seulement ses pages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5F748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DÉMO 2  /  08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11200"/>
              <a:ext cx="19050000" cy="925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97"/>
                </a:lnSpc>
                <a:spcBef>
                  <a:spcPct val="0"/>
                </a:spcBef>
              </a:pPr>
              <a:r>
                <a:rPr lang="en-US" b="true" sz="49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Les pages du site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952500" y="3048000"/>
            <a:ext cx="3905250" cy="2190750"/>
            <a:chOff x="0" y="0"/>
            <a:chExt cx="5207000" cy="2921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207000" cy="2921000"/>
              <a:chOff x="0" y="0"/>
              <a:chExt cx="5207000" cy="2921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2070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2070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355600" y="355600"/>
              <a:ext cx="1168400" cy="1168400"/>
              <a:chOff x="0" y="0"/>
              <a:chExt cx="1168400" cy="1168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684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168400">
                    <a:moveTo>
                      <a:pt x="248478" y="0"/>
                    </a:moveTo>
                    <a:lnTo>
                      <a:pt x="919922" y="0"/>
                    </a:lnTo>
                    <a:cubicBezTo>
                      <a:pt x="985822" y="0"/>
                      <a:pt x="1049024" y="26179"/>
                      <a:pt x="1095622" y="72778"/>
                    </a:cubicBezTo>
                    <a:cubicBezTo>
                      <a:pt x="1142221" y="119376"/>
                      <a:pt x="1168400" y="182578"/>
                      <a:pt x="1168400" y="248478"/>
                    </a:cubicBezTo>
                    <a:lnTo>
                      <a:pt x="1168400" y="919922"/>
                    </a:lnTo>
                    <a:cubicBezTo>
                      <a:pt x="1168400" y="985822"/>
                      <a:pt x="1142221" y="1049024"/>
                      <a:pt x="1095622" y="1095622"/>
                    </a:cubicBezTo>
                    <a:cubicBezTo>
                      <a:pt x="1049024" y="1142221"/>
                      <a:pt x="985822" y="1168400"/>
                      <a:pt x="919922" y="1168400"/>
                    </a:cubicBezTo>
                    <a:lnTo>
                      <a:pt x="248478" y="1168400"/>
                    </a:lnTo>
                    <a:cubicBezTo>
                      <a:pt x="182578" y="1168400"/>
                      <a:pt x="119376" y="1142221"/>
                      <a:pt x="72778" y="1095622"/>
                    </a:cubicBezTo>
                    <a:cubicBezTo>
                      <a:pt x="26179" y="1049024"/>
                      <a:pt x="0" y="985822"/>
                      <a:pt x="0" y="919922"/>
                    </a:cubicBezTo>
                    <a:lnTo>
                      <a:pt x="0" y="248478"/>
                    </a:lnTo>
                    <a:cubicBezTo>
                      <a:pt x="0" y="182578"/>
                      <a:pt x="26179" y="119376"/>
                      <a:pt x="72778" y="72778"/>
                    </a:cubicBezTo>
                    <a:cubicBezTo>
                      <a:pt x="119376" y="26179"/>
                      <a:pt x="182578" y="0"/>
                      <a:pt x="248478" y="0"/>
                    </a:cubicBezTo>
                    <a:close/>
                  </a:path>
                </a:pathLst>
              </a:custGeom>
              <a:solidFill>
                <a:srgbClr val="081C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9525"/>
                <a:ext cx="1168400" cy="1158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56"/>
                  </a:lnSpc>
                  <a:spcBef>
                    <a:spcPct val="0"/>
                  </a:spcBef>
                </a:pPr>
                <a:r>
                  <a:rPr lang="en-US" b="true" sz="1875" strike="noStrike" u="none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TB</a:t>
                </a: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55600" y="1793875"/>
              <a:ext cx="44958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49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Tableau de bord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86375" y="3048000"/>
            <a:ext cx="3905250" cy="2190750"/>
            <a:chOff x="0" y="0"/>
            <a:chExt cx="5207000" cy="2921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207000" cy="2921000"/>
              <a:chOff x="0" y="0"/>
              <a:chExt cx="5207000" cy="2921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2070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52070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355600" y="355600"/>
              <a:ext cx="1168400" cy="1168400"/>
              <a:chOff x="0" y="0"/>
              <a:chExt cx="1168400" cy="11684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1684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168400">
                    <a:moveTo>
                      <a:pt x="248478" y="0"/>
                    </a:moveTo>
                    <a:lnTo>
                      <a:pt x="919922" y="0"/>
                    </a:lnTo>
                    <a:cubicBezTo>
                      <a:pt x="985822" y="0"/>
                      <a:pt x="1049024" y="26179"/>
                      <a:pt x="1095622" y="72778"/>
                    </a:cubicBezTo>
                    <a:cubicBezTo>
                      <a:pt x="1142221" y="119376"/>
                      <a:pt x="1168400" y="182578"/>
                      <a:pt x="1168400" y="248478"/>
                    </a:cubicBezTo>
                    <a:lnTo>
                      <a:pt x="1168400" y="919922"/>
                    </a:lnTo>
                    <a:cubicBezTo>
                      <a:pt x="1168400" y="985822"/>
                      <a:pt x="1142221" y="1049024"/>
                      <a:pt x="1095622" y="1095622"/>
                    </a:cubicBezTo>
                    <a:cubicBezTo>
                      <a:pt x="1049024" y="1142221"/>
                      <a:pt x="985822" y="1168400"/>
                      <a:pt x="919922" y="1168400"/>
                    </a:cubicBezTo>
                    <a:lnTo>
                      <a:pt x="248478" y="1168400"/>
                    </a:lnTo>
                    <a:cubicBezTo>
                      <a:pt x="182578" y="1168400"/>
                      <a:pt x="119376" y="1142221"/>
                      <a:pt x="72778" y="1095622"/>
                    </a:cubicBezTo>
                    <a:cubicBezTo>
                      <a:pt x="26179" y="1049024"/>
                      <a:pt x="0" y="985822"/>
                      <a:pt x="0" y="919922"/>
                    </a:cubicBezTo>
                    <a:lnTo>
                      <a:pt x="0" y="248478"/>
                    </a:lnTo>
                    <a:cubicBezTo>
                      <a:pt x="0" y="182578"/>
                      <a:pt x="26179" y="119376"/>
                      <a:pt x="72778" y="72778"/>
                    </a:cubicBezTo>
                    <a:cubicBezTo>
                      <a:pt x="119376" y="26179"/>
                      <a:pt x="182578" y="0"/>
                      <a:pt x="248478" y="0"/>
                    </a:cubicBezTo>
                    <a:close/>
                  </a:path>
                </a:pathLst>
              </a:custGeom>
              <a:solidFill>
                <a:srgbClr val="081C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9525"/>
                <a:ext cx="1168400" cy="1158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56"/>
                  </a:lnSpc>
                  <a:spcBef>
                    <a:spcPct val="0"/>
                  </a:spcBef>
                </a:pPr>
                <a:r>
                  <a:rPr lang="en-US" b="true" sz="1875" strike="noStrike" u="none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PR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55600" y="1793875"/>
              <a:ext cx="44958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49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Produits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20250" y="3048000"/>
            <a:ext cx="3905250" cy="2190750"/>
            <a:chOff x="0" y="0"/>
            <a:chExt cx="5207000" cy="2921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207000" cy="2921000"/>
              <a:chOff x="0" y="0"/>
              <a:chExt cx="5207000" cy="2921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52070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52070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355600" y="355600"/>
              <a:ext cx="1168400" cy="1168400"/>
              <a:chOff x="0" y="0"/>
              <a:chExt cx="1168400" cy="11684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1684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168400">
                    <a:moveTo>
                      <a:pt x="248478" y="0"/>
                    </a:moveTo>
                    <a:lnTo>
                      <a:pt x="919922" y="0"/>
                    </a:lnTo>
                    <a:cubicBezTo>
                      <a:pt x="985822" y="0"/>
                      <a:pt x="1049024" y="26179"/>
                      <a:pt x="1095622" y="72778"/>
                    </a:cubicBezTo>
                    <a:cubicBezTo>
                      <a:pt x="1142221" y="119376"/>
                      <a:pt x="1168400" y="182578"/>
                      <a:pt x="1168400" y="248478"/>
                    </a:cubicBezTo>
                    <a:lnTo>
                      <a:pt x="1168400" y="919922"/>
                    </a:lnTo>
                    <a:cubicBezTo>
                      <a:pt x="1168400" y="985822"/>
                      <a:pt x="1142221" y="1049024"/>
                      <a:pt x="1095622" y="1095622"/>
                    </a:cubicBezTo>
                    <a:cubicBezTo>
                      <a:pt x="1049024" y="1142221"/>
                      <a:pt x="985822" y="1168400"/>
                      <a:pt x="919922" y="1168400"/>
                    </a:cubicBezTo>
                    <a:lnTo>
                      <a:pt x="248478" y="1168400"/>
                    </a:lnTo>
                    <a:cubicBezTo>
                      <a:pt x="182578" y="1168400"/>
                      <a:pt x="119376" y="1142221"/>
                      <a:pt x="72778" y="1095622"/>
                    </a:cubicBezTo>
                    <a:cubicBezTo>
                      <a:pt x="26179" y="1049024"/>
                      <a:pt x="0" y="985822"/>
                      <a:pt x="0" y="919922"/>
                    </a:cubicBezTo>
                    <a:lnTo>
                      <a:pt x="0" y="248478"/>
                    </a:lnTo>
                    <a:cubicBezTo>
                      <a:pt x="0" y="182578"/>
                      <a:pt x="26179" y="119376"/>
                      <a:pt x="72778" y="72778"/>
                    </a:cubicBezTo>
                    <a:cubicBezTo>
                      <a:pt x="119376" y="26179"/>
                      <a:pt x="182578" y="0"/>
                      <a:pt x="248478" y="0"/>
                    </a:cubicBez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9525"/>
                <a:ext cx="1168400" cy="1158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56"/>
                  </a:lnSpc>
                  <a:spcBef>
                    <a:spcPct val="0"/>
                  </a:spcBef>
                </a:pPr>
                <a:r>
                  <a:rPr lang="en-US" b="true" sz="1875" strike="noStrike" u="none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ST</a:t>
                </a: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355600" y="1793875"/>
              <a:ext cx="44958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49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Stock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954125" y="3048000"/>
            <a:ext cx="3905250" cy="2190750"/>
            <a:chOff x="0" y="0"/>
            <a:chExt cx="5207000" cy="29210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5207000" cy="2921000"/>
              <a:chOff x="0" y="0"/>
              <a:chExt cx="5207000" cy="2921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2070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52070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355600" y="355600"/>
              <a:ext cx="1168400" cy="1168400"/>
              <a:chOff x="0" y="0"/>
              <a:chExt cx="1168400" cy="11684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1684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168400">
                    <a:moveTo>
                      <a:pt x="248478" y="0"/>
                    </a:moveTo>
                    <a:lnTo>
                      <a:pt x="919922" y="0"/>
                    </a:lnTo>
                    <a:cubicBezTo>
                      <a:pt x="985822" y="0"/>
                      <a:pt x="1049024" y="26179"/>
                      <a:pt x="1095622" y="72778"/>
                    </a:cubicBezTo>
                    <a:cubicBezTo>
                      <a:pt x="1142221" y="119376"/>
                      <a:pt x="1168400" y="182578"/>
                      <a:pt x="1168400" y="248478"/>
                    </a:cubicBezTo>
                    <a:lnTo>
                      <a:pt x="1168400" y="919922"/>
                    </a:lnTo>
                    <a:cubicBezTo>
                      <a:pt x="1168400" y="985822"/>
                      <a:pt x="1142221" y="1049024"/>
                      <a:pt x="1095622" y="1095622"/>
                    </a:cubicBezTo>
                    <a:cubicBezTo>
                      <a:pt x="1049024" y="1142221"/>
                      <a:pt x="985822" y="1168400"/>
                      <a:pt x="919922" y="1168400"/>
                    </a:cubicBezTo>
                    <a:lnTo>
                      <a:pt x="248478" y="1168400"/>
                    </a:lnTo>
                    <a:cubicBezTo>
                      <a:pt x="182578" y="1168400"/>
                      <a:pt x="119376" y="1142221"/>
                      <a:pt x="72778" y="1095622"/>
                    </a:cubicBezTo>
                    <a:cubicBezTo>
                      <a:pt x="26179" y="1049024"/>
                      <a:pt x="0" y="985822"/>
                      <a:pt x="0" y="919922"/>
                    </a:cubicBezTo>
                    <a:lnTo>
                      <a:pt x="0" y="248478"/>
                    </a:lnTo>
                    <a:cubicBezTo>
                      <a:pt x="0" y="182578"/>
                      <a:pt x="26179" y="119376"/>
                      <a:pt x="72778" y="72778"/>
                    </a:cubicBezTo>
                    <a:cubicBezTo>
                      <a:pt x="119376" y="26179"/>
                      <a:pt x="182578" y="0"/>
                      <a:pt x="248478" y="0"/>
                    </a:cubicBezTo>
                    <a:close/>
                  </a:path>
                </a:pathLst>
              </a:custGeom>
              <a:solidFill>
                <a:srgbClr val="081C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9525"/>
                <a:ext cx="1168400" cy="1158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56"/>
                  </a:lnSpc>
                  <a:spcBef>
                    <a:spcPct val="0"/>
                  </a:spcBef>
                </a:pPr>
                <a:r>
                  <a:rPr lang="en-US" b="true" sz="1875" strike="noStrike" u="none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AC</a:t>
                </a: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355600" y="1793875"/>
              <a:ext cx="44958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49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Achats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52500" y="5810250"/>
            <a:ext cx="3905250" cy="2190750"/>
            <a:chOff x="0" y="0"/>
            <a:chExt cx="5207000" cy="292100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5207000" cy="2921000"/>
              <a:chOff x="0" y="0"/>
              <a:chExt cx="5207000" cy="29210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52070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52070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355600" y="355600"/>
              <a:ext cx="1168400" cy="1168400"/>
              <a:chOff x="0" y="0"/>
              <a:chExt cx="1168400" cy="11684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1684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168400">
                    <a:moveTo>
                      <a:pt x="248478" y="0"/>
                    </a:moveTo>
                    <a:lnTo>
                      <a:pt x="919922" y="0"/>
                    </a:lnTo>
                    <a:cubicBezTo>
                      <a:pt x="985822" y="0"/>
                      <a:pt x="1049024" y="26179"/>
                      <a:pt x="1095622" y="72778"/>
                    </a:cubicBezTo>
                    <a:cubicBezTo>
                      <a:pt x="1142221" y="119376"/>
                      <a:pt x="1168400" y="182578"/>
                      <a:pt x="1168400" y="248478"/>
                    </a:cubicBezTo>
                    <a:lnTo>
                      <a:pt x="1168400" y="919922"/>
                    </a:lnTo>
                    <a:cubicBezTo>
                      <a:pt x="1168400" y="985822"/>
                      <a:pt x="1142221" y="1049024"/>
                      <a:pt x="1095622" y="1095622"/>
                    </a:cubicBezTo>
                    <a:cubicBezTo>
                      <a:pt x="1049024" y="1142221"/>
                      <a:pt x="985822" y="1168400"/>
                      <a:pt x="919922" y="1168400"/>
                    </a:cubicBezTo>
                    <a:lnTo>
                      <a:pt x="248478" y="1168400"/>
                    </a:lnTo>
                    <a:cubicBezTo>
                      <a:pt x="182578" y="1168400"/>
                      <a:pt x="119376" y="1142221"/>
                      <a:pt x="72778" y="1095622"/>
                    </a:cubicBezTo>
                    <a:cubicBezTo>
                      <a:pt x="26179" y="1049024"/>
                      <a:pt x="0" y="985822"/>
                      <a:pt x="0" y="919922"/>
                    </a:cubicBezTo>
                    <a:lnTo>
                      <a:pt x="0" y="248478"/>
                    </a:lnTo>
                    <a:cubicBezTo>
                      <a:pt x="0" y="182578"/>
                      <a:pt x="26179" y="119376"/>
                      <a:pt x="72778" y="72778"/>
                    </a:cubicBezTo>
                    <a:cubicBezTo>
                      <a:pt x="119376" y="26179"/>
                      <a:pt x="182578" y="0"/>
                      <a:pt x="248478" y="0"/>
                    </a:cubicBezTo>
                    <a:close/>
                  </a:path>
                </a:pathLst>
              </a:custGeom>
              <a:solidFill>
                <a:srgbClr val="081C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9525"/>
                <a:ext cx="1168400" cy="1158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56"/>
                  </a:lnSpc>
                  <a:spcBef>
                    <a:spcPct val="0"/>
                  </a:spcBef>
                </a:pPr>
                <a:r>
                  <a:rPr lang="en-US" b="true" sz="1875" strike="noStrike" u="none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VE</a:t>
                </a: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355600" y="1793875"/>
              <a:ext cx="44958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49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Ventes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286375" y="5810250"/>
            <a:ext cx="3905250" cy="2190750"/>
            <a:chOff x="0" y="0"/>
            <a:chExt cx="5207000" cy="2921000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5207000" cy="2921000"/>
              <a:chOff x="0" y="0"/>
              <a:chExt cx="5207000" cy="29210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52070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52070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355600" y="355600"/>
              <a:ext cx="1168400" cy="1168400"/>
              <a:chOff x="0" y="0"/>
              <a:chExt cx="1168400" cy="116840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1684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168400">
                    <a:moveTo>
                      <a:pt x="248478" y="0"/>
                    </a:moveTo>
                    <a:lnTo>
                      <a:pt x="919922" y="0"/>
                    </a:lnTo>
                    <a:cubicBezTo>
                      <a:pt x="985822" y="0"/>
                      <a:pt x="1049024" y="26179"/>
                      <a:pt x="1095622" y="72778"/>
                    </a:cubicBezTo>
                    <a:cubicBezTo>
                      <a:pt x="1142221" y="119376"/>
                      <a:pt x="1168400" y="182578"/>
                      <a:pt x="1168400" y="248478"/>
                    </a:cubicBezTo>
                    <a:lnTo>
                      <a:pt x="1168400" y="919922"/>
                    </a:lnTo>
                    <a:cubicBezTo>
                      <a:pt x="1168400" y="985822"/>
                      <a:pt x="1142221" y="1049024"/>
                      <a:pt x="1095622" y="1095622"/>
                    </a:cubicBezTo>
                    <a:cubicBezTo>
                      <a:pt x="1049024" y="1142221"/>
                      <a:pt x="985822" y="1168400"/>
                      <a:pt x="919922" y="1168400"/>
                    </a:cubicBezTo>
                    <a:lnTo>
                      <a:pt x="248478" y="1168400"/>
                    </a:lnTo>
                    <a:cubicBezTo>
                      <a:pt x="182578" y="1168400"/>
                      <a:pt x="119376" y="1142221"/>
                      <a:pt x="72778" y="1095622"/>
                    </a:cubicBezTo>
                    <a:cubicBezTo>
                      <a:pt x="26179" y="1049024"/>
                      <a:pt x="0" y="985822"/>
                      <a:pt x="0" y="919922"/>
                    </a:cubicBezTo>
                    <a:lnTo>
                      <a:pt x="0" y="248478"/>
                    </a:lnTo>
                    <a:cubicBezTo>
                      <a:pt x="0" y="182578"/>
                      <a:pt x="26179" y="119376"/>
                      <a:pt x="72778" y="72778"/>
                    </a:cubicBezTo>
                    <a:cubicBezTo>
                      <a:pt x="119376" y="26179"/>
                      <a:pt x="182578" y="0"/>
                      <a:pt x="248478" y="0"/>
                    </a:cubicBezTo>
                    <a:close/>
                  </a:path>
                </a:pathLst>
              </a:custGeom>
              <a:solidFill>
                <a:srgbClr val="081C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9525"/>
                <a:ext cx="1168400" cy="1158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56"/>
                  </a:lnSpc>
                  <a:spcBef>
                    <a:spcPct val="0"/>
                  </a:spcBef>
                </a:pPr>
                <a:r>
                  <a:rPr lang="en-US" b="true" sz="1875" strike="noStrike" u="none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LI</a:t>
                </a:r>
              </a:p>
            </p:txBody>
          </p:sp>
        </p:grpSp>
        <p:sp>
          <p:nvSpPr>
            <p:cNvPr name="TextBox 55" id="55"/>
            <p:cNvSpPr txBox="true"/>
            <p:nvPr/>
          </p:nvSpPr>
          <p:spPr>
            <a:xfrm rot="0">
              <a:off x="355600" y="1793875"/>
              <a:ext cx="44958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49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Livraisons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20250" y="5810250"/>
            <a:ext cx="3905250" cy="2190750"/>
            <a:chOff x="0" y="0"/>
            <a:chExt cx="5207000" cy="2921000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5207000" cy="2921000"/>
              <a:chOff x="0" y="0"/>
              <a:chExt cx="5207000" cy="29210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52070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38100"/>
                <a:ext cx="52070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355600" y="355600"/>
              <a:ext cx="1168400" cy="1168400"/>
              <a:chOff x="0" y="0"/>
              <a:chExt cx="1168400" cy="116840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1684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168400">
                    <a:moveTo>
                      <a:pt x="248478" y="0"/>
                    </a:moveTo>
                    <a:lnTo>
                      <a:pt x="919922" y="0"/>
                    </a:lnTo>
                    <a:cubicBezTo>
                      <a:pt x="985822" y="0"/>
                      <a:pt x="1049024" y="26179"/>
                      <a:pt x="1095622" y="72778"/>
                    </a:cubicBezTo>
                    <a:cubicBezTo>
                      <a:pt x="1142221" y="119376"/>
                      <a:pt x="1168400" y="182578"/>
                      <a:pt x="1168400" y="248478"/>
                    </a:cubicBezTo>
                    <a:lnTo>
                      <a:pt x="1168400" y="919922"/>
                    </a:lnTo>
                    <a:cubicBezTo>
                      <a:pt x="1168400" y="985822"/>
                      <a:pt x="1142221" y="1049024"/>
                      <a:pt x="1095622" y="1095622"/>
                    </a:cubicBezTo>
                    <a:cubicBezTo>
                      <a:pt x="1049024" y="1142221"/>
                      <a:pt x="985822" y="1168400"/>
                      <a:pt x="919922" y="1168400"/>
                    </a:cubicBezTo>
                    <a:lnTo>
                      <a:pt x="248478" y="1168400"/>
                    </a:lnTo>
                    <a:cubicBezTo>
                      <a:pt x="182578" y="1168400"/>
                      <a:pt x="119376" y="1142221"/>
                      <a:pt x="72778" y="1095622"/>
                    </a:cubicBezTo>
                    <a:cubicBezTo>
                      <a:pt x="26179" y="1049024"/>
                      <a:pt x="0" y="985822"/>
                      <a:pt x="0" y="919922"/>
                    </a:cubicBezTo>
                    <a:lnTo>
                      <a:pt x="0" y="248478"/>
                    </a:lnTo>
                    <a:cubicBezTo>
                      <a:pt x="0" y="182578"/>
                      <a:pt x="26179" y="119376"/>
                      <a:pt x="72778" y="72778"/>
                    </a:cubicBezTo>
                    <a:cubicBezTo>
                      <a:pt x="119376" y="26179"/>
                      <a:pt x="182578" y="0"/>
                      <a:pt x="248478" y="0"/>
                    </a:cubicBezTo>
                    <a:close/>
                  </a:path>
                </a:pathLst>
              </a:custGeom>
              <a:solidFill>
                <a:srgbClr val="081C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9525"/>
                <a:ext cx="1168400" cy="1158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56"/>
                  </a:lnSpc>
                  <a:spcBef>
                    <a:spcPct val="0"/>
                  </a:spcBef>
                </a:pPr>
                <a:r>
                  <a:rPr lang="en-US" b="true" sz="1875" strike="noStrike" u="none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EM</a:t>
                </a:r>
              </a:p>
            </p:txBody>
          </p:sp>
        </p:grpSp>
        <p:sp>
          <p:nvSpPr>
            <p:cNvPr name="TextBox 63" id="63"/>
            <p:cNvSpPr txBox="true"/>
            <p:nvPr/>
          </p:nvSpPr>
          <p:spPr>
            <a:xfrm rot="0">
              <a:off x="355600" y="1793875"/>
              <a:ext cx="44958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49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Employés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954125" y="5810250"/>
            <a:ext cx="3905250" cy="2190750"/>
            <a:chOff x="0" y="0"/>
            <a:chExt cx="5207000" cy="2921000"/>
          </a:xfrm>
        </p:grpSpPr>
        <p:grpSp>
          <p:nvGrpSpPr>
            <p:cNvPr name="Group 65" id="65"/>
            <p:cNvGrpSpPr/>
            <p:nvPr/>
          </p:nvGrpSpPr>
          <p:grpSpPr>
            <a:xfrm rot="0">
              <a:off x="0" y="0"/>
              <a:ext cx="5207000" cy="2921000"/>
              <a:chOff x="0" y="0"/>
              <a:chExt cx="5207000" cy="29210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52070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5207000">
                    <a:moveTo>
                      <a:pt x="0" y="0"/>
                    </a:moveTo>
                    <a:lnTo>
                      <a:pt x="5207000" y="0"/>
                    </a:lnTo>
                    <a:lnTo>
                      <a:pt x="5207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38100"/>
                <a:ext cx="52070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355600" y="355600"/>
              <a:ext cx="1168400" cy="1168400"/>
              <a:chOff x="0" y="0"/>
              <a:chExt cx="1168400" cy="11684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11684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168400">
                    <a:moveTo>
                      <a:pt x="248478" y="0"/>
                    </a:moveTo>
                    <a:lnTo>
                      <a:pt x="919922" y="0"/>
                    </a:lnTo>
                    <a:cubicBezTo>
                      <a:pt x="985822" y="0"/>
                      <a:pt x="1049024" y="26179"/>
                      <a:pt x="1095622" y="72778"/>
                    </a:cubicBezTo>
                    <a:cubicBezTo>
                      <a:pt x="1142221" y="119376"/>
                      <a:pt x="1168400" y="182578"/>
                      <a:pt x="1168400" y="248478"/>
                    </a:cubicBezTo>
                    <a:lnTo>
                      <a:pt x="1168400" y="919922"/>
                    </a:lnTo>
                    <a:cubicBezTo>
                      <a:pt x="1168400" y="985822"/>
                      <a:pt x="1142221" y="1049024"/>
                      <a:pt x="1095622" y="1095622"/>
                    </a:cubicBezTo>
                    <a:cubicBezTo>
                      <a:pt x="1049024" y="1142221"/>
                      <a:pt x="985822" y="1168400"/>
                      <a:pt x="919922" y="1168400"/>
                    </a:cubicBezTo>
                    <a:lnTo>
                      <a:pt x="248478" y="1168400"/>
                    </a:lnTo>
                    <a:cubicBezTo>
                      <a:pt x="182578" y="1168400"/>
                      <a:pt x="119376" y="1142221"/>
                      <a:pt x="72778" y="1095622"/>
                    </a:cubicBezTo>
                    <a:cubicBezTo>
                      <a:pt x="26179" y="1049024"/>
                      <a:pt x="0" y="985822"/>
                      <a:pt x="0" y="919922"/>
                    </a:cubicBezTo>
                    <a:lnTo>
                      <a:pt x="0" y="248478"/>
                    </a:lnTo>
                    <a:cubicBezTo>
                      <a:pt x="0" y="182578"/>
                      <a:pt x="26179" y="119376"/>
                      <a:pt x="72778" y="72778"/>
                    </a:cubicBezTo>
                    <a:cubicBezTo>
                      <a:pt x="119376" y="26179"/>
                      <a:pt x="182578" y="0"/>
                      <a:pt x="248478" y="0"/>
                    </a:cubicBezTo>
                    <a:close/>
                  </a:path>
                </a:pathLst>
              </a:custGeom>
              <a:solidFill>
                <a:srgbClr val="081C2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9525"/>
                <a:ext cx="1168400" cy="1158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156"/>
                  </a:lnSpc>
                  <a:spcBef>
                    <a:spcPct val="0"/>
                  </a:spcBef>
                </a:pPr>
                <a:r>
                  <a:rPr lang="en-US" b="true" sz="1875" strike="noStrike" u="none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FI</a:t>
                </a:r>
              </a:p>
            </p:txBody>
          </p:sp>
        </p:grpSp>
        <p:sp>
          <p:nvSpPr>
            <p:cNvPr name="TextBox 71" id="71"/>
            <p:cNvSpPr txBox="true"/>
            <p:nvPr/>
          </p:nvSpPr>
          <p:spPr>
            <a:xfrm rot="0">
              <a:off x="355600" y="1793875"/>
              <a:ext cx="44958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49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Finance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5F748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DÉMO 2  /  09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11200"/>
              <a:ext cx="19050000" cy="925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97"/>
                </a:lnSpc>
                <a:spcBef>
                  <a:spcPct val="0"/>
                </a:spcBef>
              </a:pPr>
              <a:r>
                <a:rPr lang="en-US" b="true" sz="49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Tableau de bord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12170833" y="2614847"/>
            <a:ext cx="4572000" cy="5109210"/>
            <a:chOff x="0" y="0"/>
            <a:chExt cx="6096000" cy="681228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04775"/>
              <a:ext cx="6096000" cy="1191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59"/>
                </a:lnSpc>
                <a:spcBef>
                  <a:spcPct val="0"/>
                </a:spcBef>
              </a:pPr>
              <a:r>
                <a:rPr lang="en-US" b="true" sz="5400" strike="noStrike" u="none">
                  <a:solidFill>
                    <a:srgbClr val="18C5C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Ventes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04900"/>
              <a:ext cx="6096000" cy="3274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35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02A3A"/>
                  </a:solidFill>
                  <a:latin typeface="DM Sans"/>
                  <a:ea typeface="DM Sans"/>
                  <a:cs typeface="DM Sans"/>
                  <a:sym typeface="DM Sans"/>
                </a:rPr>
                <a:t>Chiffres du jour et du mois,Dernières ventes,Performance par vendeur,</a:t>
              </a:r>
            </a:p>
            <a:p>
              <a:pPr algn="l" marL="0" indent="0" lvl="0">
                <a:lnSpc>
                  <a:spcPts val="2835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02A3A"/>
                  </a:solidFill>
                  <a:latin typeface="DM Sans"/>
                  <a:ea typeface="DM Sans"/>
                  <a:cs typeface="DM Sans"/>
                  <a:sym typeface="DM Sans"/>
                </a:rPr>
                <a:t>Top produits vendus</a:t>
              </a:r>
            </a:p>
            <a:p>
              <a:pPr algn="l" marL="0" indent="0" lvl="0">
                <a:lnSpc>
                  <a:spcPts val="2835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835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835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835"/>
                </a:lnSpc>
                <a:spcBef>
                  <a:spcPct val="0"/>
                </a:spcBef>
              </a:pP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0" y="2641600"/>
              <a:ext cx="4572000" cy="50800"/>
              <a:chOff x="0" y="0"/>
              <a:chExt cx="4572000" cy="50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572000" cy="50800"/>
              </a:xfrm>
              <a:custGeom>
                <a:avLst/>
                <a:gdLst/>
                <a:ahLst/>
                <a:cxnLst/>
                <a:rect r="r" b="b" t="t" l="l"/>
                <a:pathLst>
                  <a:path h="50800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50800"/>
                    </a:lnTo>
                    <a:lnTo>
                      <a:pt x="0" y="50800"/>
                    </a:lnTo>
                    <a:close/>
                  </a:path>
                </a:pathLst>
              </a:custGeom>
              <a:solidFill>
                <a:srgbClr val="DCE8E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4572000" cy="88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4478020"/>
              <a:ext cx="6096000" cy="2334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35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102A3A"/>
                  </a:solidFill>
                  <a:latin typeface="DM Sans"/>
                  <a:ea typeface="DM Sans"/>
                  <a:cs typeface="DM Sans"/>
                  <a:sym typeface="DM Sans"/>
                </a:rPr>
                <a:t>Produits en stock faible,Derniers mouvements de stock,Livraisons en retard</a:t>
              </a:r>
            </a:p>
            <a:p>
              <a:pPr algn="l" marL="0" indent="0" lvl="0">
                <a:lnSpc>
                  <a:spcPts val="2835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83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170833" y="4895850"/>
            <a:ext cx="4572000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59"/>
              </a:lnSpc>
              <a:spcBef>
                <a:spcPct val="0"/>
              </a:spcBef>
            </a:pPr>
            <a:r>
              <a:rPr lang="en-US" b="true" sz="5400" strike="noStrike" u="none">
                <a:solidFill>
                  <a:srgbClr val="081C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Stock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52500" y="2614847"/>
            <a:ext cx="10440889" cy="5057305"/>
          </a:xfrm>
          <a:custGeom>
            <a:avLst/>
            <a:gdLst/>
            <a:ahLst/>
            <a:cxnLst/>
            <a:rect r="r" b="b" t="t" l="l"/>
            <a:pathLst>
              <a:path h="5057305" w="10440889">
                <a:moveTo>
                  <a:pt x="0" y="0"/>
                </a:moveTo>
                <a:lnTo>
                  <a:pt x="10440889" y="0"/>
                </a:lnTo>
                <a:lnTo>
                  <a:pt x="10440889" y="5057306"/>
                </a:lnTo>
                <a:lnTo>
                  <a:pt x="0" y="5057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5F748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DÉMO 2  /  10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11200"/>
              <a:ext cx="19050000" cy="925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97"/>
                </a:lnSpc>
                <a:spcBef>
                  <a:spcPct val="0"/>
                </a:spcBef>
              </a:pPr>
              <a:r>
                <a:rPr lang="en-US" b="true" sz="49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Produits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1143000" y="3619500"/>
            <a:ext cx="4000500" cy="1428750"/>
            <a:chOff x="0" y="0"/>
            <a:chExt cx="5334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3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1850571"/>
                  </a:lnTo>
                  <a:cubicBezTo>
                    <a:pt x="5334000" y="1880632"/>
                    <a:pt x="5309631" y="1905000"/>
                    <a:pt x="5279572" y="1905000"/>
                  </a:cubicBezTo>
                  <a:lnTo>
                    <a:pt x="54429" y="1905000"/>
                  </a:lnTo>
                  <a:cubicBezTo>
                    <a:pt x="24369" y="1905000"/>
                    <a:pt x="0" y="1880632"/>
                    <a:pt x="0" y="1850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5334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Ajouter, modifier, supprimer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3000" y="6572250"/>
            <a:ext cx="4000500" cy="1428750"/>
            <a:chOff x="0" y="0"/>
            <a:chExt cx="53340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1850571"/>
                  </a:lnTo>
                  <a:cubicBezTo>
                    <a:pt x="5334000" y="1880632"/>
                    <a:pt x="5309631" y="1905000"/>
                    <a:pt x="5279572" y="1905000"/>
                  </a:cubicBezTo>
                  <a:lnTo>
                    <a:pt x="54429" y="1905000"/>
                  </a:lnTo>
                  <a:cubicBezTo>
                    <a:pt x="24369" y="1905000"/>
                    <a:pt x="0" y="1880632"/>
                    <a:pt x="0" y="1850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5334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Recherche et filtres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86500" y="3619500"/>
            <a:ext cx="4000500" cy="1428750"/>
            <a:chOff x="0" y="0"/>
            <a:chExt cx="5334000" cy="190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3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1850571"/>
                  </a:lnTo>
                  <a:cubicBezTo>
                    <a:pt x="5334000" y="1880632"/>
                    <a:pt x="5309631" y="1905000"/>
                    <a:pt x="5279572" y="1905000"/>
                  </a:cubicBezTo>
                  <a:lnTo>
                    <a:pt x="54429" y="1905000"/>
                  </a:lnTo>
                  <a:cubicBezTo>
                    <a:pt x="24369" y="1905000"/>
                    <a:pt x="0" y="1880632"/>
                    <a:pt x="0" y="1850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18C5C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5334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Photo et catégorie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286500" y="6572250"/>
            <a:ext cx="4000500" cy="1428750"/>
            <a:chOff x="0" y="0"/>
            <a:chExt cx="5334000" cy="190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3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1850571"/>
                  </a:lnTo>
                  <a:cubicBezTo>
                    <a:pt x="5334000" y="1880632"/>
                    <a:pt x="5309631" y="1905000"/>
                    <a:pt x="5279572" y="1905000"/>
                  </a:cubicBezTo>
                  <a:lnTo>
                    <a:pt x="54429" y="1905000"/>
                  </a:lnTo>
                  <a:cubicBezTo>
                    <a:pt x="24369" y="1905000"/>
                    <a:pt x="0" y="1880632"/>
                    <a:pt x="0" y="1850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18C5C8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5334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Alerte stock faible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430000" y="3619500"/>
            <a:ext cx="4000500" cy="1428750"/>
            <a:chOff x="0" y="0"/>
            <a:chExt cx="5334000" cy="190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3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1850571"/>
                  </a:lnTo>
                  <a:cubicBezTo>
                    <a:pt x="5334000" y="1880632"/>
                    <a:pt x="5309631" y="1905000"/>
                    <a:pt x="5279572" y="1905000"/>
                  </a:cubicBezTo>
                  <a:lnTo>
                    <a:pt x="54429" y="1905000"/>
                  </a:lnTo>
                  <a:cubicBezTo>
                    <a:pt x="24369" y="1905000"/>
                    <a:pt x="0" y="1880632"/>
                    <a:pt x="0" y="1850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5334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Prix d’achat et de vente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430000" y="6572250"/>
            <a:ext cx="4000500" cy="1428750"/>
            <a:chOff x="0" y="0"/>
            <a:chExt cx="53340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3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5334000">
                  <a:moveTo>
                    <a:pt x="54429" y="0"/>
                  </a:moveTo>
                  <a:lnTo>
                    <a:pt x="5279572" y="0"/>
                  </a:lnTo>
                  <a:cubicBezTo>
                    <a:pt x="5309631" y="0"/>
                    <a:pt x="5334000" y="24369"/>
                    <a:pt x="5334000" y="54429"/>
                  </a:cubicBezTo>
                  <a:lnTo>
                    <a:pt x="5334000" y="1850571"/>
                  </a:lnTo>
                  <a:cubicBezTo>
                    <a:pt x="5334000" y="1880632"/>
                    <a:pt x="5309631" y="1905000"/>
                    <a:pt x="5279572" y="1905000"/>
                  </a:cubicBezTo>
                  <a:lnTo>
                    <a:pt x="54429" y="1905000"/>
                  </a:lnTo>
                  <a:cubicBezTo>
                    <a:pt x="24369" y="1905000"/>
                    <a:pt x="0" y="1880632"/>
                    <a:pt x="0" y="1850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53340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Détails du produit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5F748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DÉMO 2  /  11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11200"/>
              <a:ext cx="19050000" cy="925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97"/>
                </a:lnSpc>
                <a:spcBef>
                  <a:spcPct val="0"/>
                </a:spcBef>
              </a:pPr>
              <a:r>
                <a:rPr lang="en-US" b="true" sz="49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Gestion de stock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1524000" y="3429000"/>
            <a:ext cx="6191250" cy="1619250"/>
            <a:chOff x="0" y="0"/>
            <a:chExt cx="8255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55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2123831"/>
                  </a:lnTo>
                  <a:cubicBezTo>
                    <a:pt x="8255000" y="2143254"/>
                    <a:pt x="8239254" y="2159000"/>
                    <a:pt x="8219831" y="2159000"/>
                  </a:cubicBezTo>
                  <a:lnTo>
                    <a:pt x="35169" y="2159000"/>
                  </a:lnTo>
                  <a:cubicBezTo>
                    <a:pt x="15746" y="2159000"/>
                    <a:pt x="0" y="2143254"/>
                    <a:pt x="0" y="212383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8255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102A3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ACHAT  →  STOCK +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572750" y="3429000"/>
            <a:ext cx="6191250" cy="1619250"/>
            <a:chOff x="0" y="0"/>
            <a:chExt cx="8255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55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2123831"/>
                  </a:lnTo>
                  <a:cubicBezTo>
                    <a:pt x="8255000" y="2143254"/>
                    <a:pt x="8239254" y="2159000"/>
                    <a:pt x="8219831" y="2159000"/>
                  </a:cubicBezTo>
                  <a:lnTo>
                    <a:pt x="35169" y="2159000"/>
                  </a:lnTo>
                  <a:cubicBezTo>
                    <a:pt x="15746" y="2159000"/>
                    <a:pt x="0" y="2143254"/>
                    <a:pt x="0" y="212383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EF6A67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8255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VENTE  →  STOCK −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809750" y="5772150"/>
            <a:ext cx="56197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02A3A"/>
                </a:solidFill>
                <a:latin typeface="DM Sans"/>
                <a:ea typeface="DM Sans"/>
                <a:cs typeface="DM Sans"/>
                <a:sym typeface="DM Sans"/>
              </a:rPr>
              <a:t>Un achat ajoute des produits au stock.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58500" y="5772150"/>
            <a:ext cx="561975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02A3A"/>
                </a:solidFill>
                <a:latin typeface="DM Sans"/>
                <a:ea typeface="DM Sans"/>
                <a:cs typeface="DM Sans"/>
                <a:sym typeface="DM Sans"/>
              </a:rPr>
              <a:t>Une vente retire des produits du stock.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333750" y="7762875"/>
            <a:ext cx="11620500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Chaque mouvement est enregistré : on sait toujours pourquoi le stock change.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5F748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DÉMO 2  /  12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11200"/>
              <a:ext cx="19050000" cy="925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97"/>
                </a:lnSpc>
                <a:spcBef>
                  <a:spcPct val="0"/>
                </a:spcBef>
              </a:pPr>
              <a:r>
                <a:rPr lang="en-US" b="true" sz="49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Achats et fournisseurs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952500" y="4095750"/>
            <a:ext cx="2667000" cy="1619250"/>
            <a:chOff x="0" y="0"/>
            <a:chExt cx="3556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077357"/>
                  </a:lnTo>
                  <a:cubicBezTo>
                    <a:pt x="3556000" y="2122447"/>
                    <a:pt x="3519447" y="2159000"/>
                    <a:pt x="3474357" y="2159000"/>
                  </a:cubicBezTo>
                  <a:lnTo>
                    <a:pt x="81643" y="2159000"/>
                  </a:lnTo>
                  <a:cubicBezTo>
                    <a:pt x="36553" y="2159000"/>
                    <a:pt x="0" y="2122447"/>
                    <a:pt x="0" y="2077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3556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102A3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Choisir le fournisseur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3667125" y="4905375"/>
            <a:ext cx="476250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4286250" y="4095750"/>
            <a:ext cx="2667000" cy="1619250"/>
            <a:chOff x="0" y="0"/>
            <a:chExt cx="3556000" cy="215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5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077357"/>
                  </a:lnTo>
                  <a:cubicBezTo>
                    <a:pt x="3556000" y="2122447"/>
                    <a:pt x="3519447" y="2159000"/>
                    <a:pt x="3474357" y="2159000"/>
                  </a:cubicBezTo>
                  <a:lnTo>
                    <a:pt x="81643" y="2159000"/>
                  </a:lnTo>
                  <a:cubicBezTo>
                    <a:pt x="36553" y="2159000"/>
                    <a:pt x="0" y="2122447"/>
                    <a:pt x="0" y="2077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3556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102A3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Ajouter les produits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7000875" y="4905375"/>
            <a:ext cx="476250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7620000" y="4095750"/>
            <a:ext cx="2667000" cy="1619250"/>
            <a:chOff x="0" y="0"/>
            <a:chExt cx="3556000" cy="2159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5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077357"/>
                  </a:lnTo>
                  <a:cubicBezTo>
                    <a:pt x="3556000" y="2122447"/>
                    <a:pt x="3519447" y="2159000"/>
                    <a:pt x="3474357" y="2159000"/>
                  </a:cubicBezTo>
                  <a:lnTo>
                    <a:pt x="81643" y="2159000"/>
                  </a:lnTo>
                  <a:cubicBezTo>
                    <a:pt x="36553" y="2159000"/>
                    <a:pt x="0" y="2122447"/>
                    <a:pt x="0" y="2077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8C5C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3556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Payer tout ou une partie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0334625" y="4905375"/>
            <a:ext cx="476250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10953750" y="4095750"/>
            <a:ext cx="2667000" cy="1619250"/>
            <a:chOff x="0" y="0"/>
            <a:chExt cx="3556000" cy="2159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5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077357"/>
                  </a:lnTo>
                  <a:cubicBezTo>
                    <a:pt x="3556000" y="2122447"/>
                    <a:pt x="3519447" y="2159000"/>
                    <a:pt x="3474357" y="2159000"/>
                  </a:cubicBezTo>
                  <a:lnTo>
                    <a:pt x="81643" y="2159000"/>
                  </a:lnTo>
                  <a:cubicBezTo>
                    <a:pt x="36553" y="2159000"/>
                    <a:pt x="0" y="2122447"/>
                    <a:pt x="0" y="2077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3556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102A3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 stock augmente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3668375" y="4905375"/>
            <a:ext cx="476250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14287500" y="4095750"/>
            <a:ext cx="2667000" cy="1619250"/>
            <a:chOff x="0" y="0"/>
            <a:chExt cx="3556000" cy="2159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5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077357"/>
                  </a:lnTo>
                  <a:cubicBezTo>
                    <a:pt x="3556000" y="2122447"/>
                    <a:pt x="3519447" y="2159000"/>
                    <a:pt x="3474357" y="2159000"/>
                  </a:cubicBezTo>
                  <a:lnTo>
                    <a:pt x="81643" y="2159000"/>
                  </a:lnTo>
                  <a:cubicBezTo>
                    <a:pt x="36553" y="2159000"/>
                    <a:pt x="0" y="2122447"/>
                    <a:pt x="0" y="2077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3556000" cy="214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102A3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Suivre ce qu’on doit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429000" y="7010400"/>
            <a:ext cx="11430000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45"/>
              </a:lnSpc>
              <a:spcBef>
                <a:spcPct val="0"/>
              </a:spcBef>
            </a:pPr>
            <a:r>
              <a:rPr lang="en-US" b="true" sz="2175" strike="noStrike" u="non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page Fournisseurs garde la liste de tous les fournisseurs du magasin.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5F748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DÉMO 2  /  13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11200"/>
              <a:ext cx="19050000" cy="925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97"/>
                </a:lnSpc>
                <a:spcBef>
                  <a:spcPct val="0"/>
                </a:spcBef>
              </a:pPr>
              <a:r>
                <a:rPr lang="en-US" b="true" sz="49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Ventes : créer une vente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2609850" y="4000500"/>
            <a:ext cx="2381250" cy="1809750"/>
            <a:chOff x="0" y="0"/>
            <a:chExt cx="3175000" cy="241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2321560"/>
                  </a:lnTo>
                  <a:cubicBezTo>
                    <a:pt x="3175000" y="2372061"/>
                    <a:pt x="3134061" y="2413000"/>
                    <a:pt x="3083560" y="2413000"/>
                  </a:cubicBezTo>
                  <a:lnTo>
                    <a:pt x="91440" y="2413000"/>
                  </a:lnTo>
                  <a:cubicBezTo>
                    <a:pt x="40939" y="2413000"/>
                    <a:pt x="0" y="2372061"/>
                    <a:pt x="0" y="2321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3175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Ajouter les produits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5038725" y="4905375"/>
            <a:ext cx="333375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5467350" y="4000500"/>
            <a:ext cx="2381250" cy="1809750"/>
            <a:chOff x="0" y="0"/>
            <a:chExt cx="3175000" cy="2413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2321560"/>
                  </a:lnTo>
                  <a:cubicBezTo>
                    <a:pt x="3175000" y="2372061"/>
                    <a:pt x="3134061" y="2413000"/>
                    <a:pt x="3083560" y="2413000"/>
                  </a:cubicBezTo>
                  <a:lnTo>
                    <a:pt x="91440" y="2413000"/>
                  </a:lnTo>
                  <a:cubicBezTo>
                    <a:pt x="40939" y="2413000"/>
                    <a:pt x="0" y="2372061"/>
                    <a:pt x="0" y="2321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3175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Vérifier le stock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7896225" y="4905375"/>
            <a:ext cx="333375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8324850" y="4000500"/>
            <a:ext cx="2381250" cy="1809750"/>
            <a:chOff x="0" y="0"/>
            <a:chExt cx="3175000" cy="241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7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2321560"/>
                  </a:lnTo>
                  <a:cubicBezTo>
                    <a:pt x="3175000" y="2372061"/>
                    <a:pt x="3134061" y="2413000"/>
                    <a:pt x="3083560" y="2413000"/>
                  </a:cubicBezTo>
                  <a:lnTo>
                    <a:pt x="91440" y="2413000"/>
                  </a:lnTo>
                  <a:cubicBezTo>
                    <a:pt x="40939" y="2413000"/>
                    <a:pt x="0" y="2372061"/>
                    <a:pt x="0" y="2321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3175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Payer tout ou une partie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0753725" y="4905375"/>
            <a:ext cx="333375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11182350" y="4000500"/>
            <a:ext cx="2381250" cy="1809750"/>
            <a:chOff x="0" y="0"/>
            <a:chExt cx="3175000" cy="2413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7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2321560"/>
                  </a:lnTo>
                  <a:cubicBezTo>
                    <a:pt x="3175000" y="2372061"/>
                    <a:pt x="3134061" y="2413000"/>
                    <a:pt x="3083560" y="2413000"/>
                  </a:cubicBezTo>
                  <a:lnTo>
                    <a:pt x="91440" y="2413000"/>
                  </a:lnTo>
                  <a:cubicBezTo>
                    <a:pt x="40939" y="2413000"/>
                    <a:pt x="0" y="2372061"/>
                    <a:pt x="0" y="2321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3175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Créer la facture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3611225" y="4905375"/>
            <a:ext cx="333375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14039850" y="4000500"/>
            <a:ext cx="2381250" cy="1809750"/>
            <a:chOff x="0" y="0"/>
            <a:chExt cx="3175000" cy="2413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7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2321560"/>
                  </a:lnTo>
                  <a:cubicBezTo>
                    <a:pt x="3175000" y="2372061"/>
                    <a:pt x="3134061" y="2413000"/>
                    <a:pt x="3083560" y="2413000"/>
                  </a:cubicBezTo>
                  <a:lnTo>
                    <a:pt x="91440" y="2413000"/>
                  </a:lnTo>
                  <a:cubicBezTo>
                    <a:pt x="40939" y="2413000"/>
                    <a:pt x="0" y="2372061"/>
                    <a:pt x="0" y="2321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18C5C8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3175000" cy="240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56"/>
                </a:lnSpc>
              </a:pPr>
              <a:r>
                <a:rPr lang="en-US" sz="1875" b="tru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</a:t>
              </a:r>
            </a:p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 stock baisse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143250" y="6905625"/>
            <a:ext cx="120015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Impossible de vendre plus que le stock disponible.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5F748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DÉMO 2  /  14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92150"/>
              <a:ext cx="19050000" cy="7861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10"/>
                </a:lnSpc>
                <a:spcBef>
                  <a:spcPct val="0"/>
                </a:spcBef>
              </a:pPr>
              <a:r>
                <a:rPr lang="en-US" b="true" sz="420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Livraisons et demandes clients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666750" y="4286250"/>
            <a:ext cx="2333625" cy="1428750"/>
            <a:chOff x="0" y="0"/>
            <a:chExt cx="31115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11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115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31115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 attente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3048000" y="5000625"/>
            <a:ext cx="428625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3571875" y="4286250"/>
            <a:ext cx="2333625" cy="1428750"/>
            <a:chOff x="0" y="0"/>
            <a:chExt cx="3111500" cy="1905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1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115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31115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 préparation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953125" y="5000625"/>
            <a:ext cx="428625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6477000" y="4286250"/>
            <a:ext cx="2333625" cy="1428750"/>
            <a:chOff x="0" y="0"/>
            <a:chExt cx="3111500" cy="190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11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115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18C5C8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31115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En route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8858250" y="5000625"/>
            <a:ext cx="428625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9382125" y="4286250"/>
            <a:ext cx="2333625" cy="1428750"/>
            <a:chOff x="0" y="0"/>
            <a:chExt cx="3111500" cy="190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11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115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31115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Arrivée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87250" y="4286250"/>
            <a:ext cx="2333625" cy="1428750"/>
            <a:chOff x="0" y="0"/>
            <a:chExt cx="31115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11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115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B8E34B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31115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Produit manquant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4668500" y="5000625"/>
            <a:ext cx="428625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7" id="27"/>
          <p:cNvGrpSpPr/>
          <p:nvPr/>
        </p:nvGrpSpPr>
        <p:grpSpPr>
          <a:xfrm rot="0">
            <a:off x="15192375" y="4286250"/>
            <a:ext cx="2333625" cy="1428750"/>
            <a:chOff x="0" y="0"/>
            <a:chExt cx="3111500" cy="1905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11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111500">
                  <a:moveTo>
                    <a:pt x="93306" y="0"/>
                  </a:moveTo>
                  <a:lnTo>
                    <a:pt x="3018194" y="0"/>
                  </a:lnTo>
                  <a:cubicBezTo>
                    <a:pt x="3069725" y="0"/>
                    <a:pt x="3111500" y="41775"/>
                    <a:pt x="3111500" y="93306"/>
                  </a:cubicBezTo>
                  <a:lnTo>
                    <a:pt x="3111500" y="1811694"/>
                  </a:lnTo>
                  <a:cubicBezTo>
                    <a:pt x="3111500" y="1863225"/>
                    <a:pt x="3069725" y="1905000"/>
                    <a:pt x="3018194" y="1905000"/>
                  </a:cubicBezTo>
                  <a:lnTo>
                    <a:pt x="93306" y="1905000"/>
                  </a:lnTo>
                  <a:cubicBezTo>
                    <a:pt x="41775" y="1905000"/>
                    <a:pt x="0" y="1863225"/>
                    <a:pt x="0" y="1811694"/>
                  </a:cubicBezTo>
                  <a:lnTo>
                    <a:pt x="0" y="93306"/>
                  </a:lnTo>
                  <a:cubicBezTo>
                    <a:pt x="0" y="41775"/>
                    <a:pt x="41775" y="0"/>
                    <a:pt x="9330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3111500" cy="189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Client prévenu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429000" y="6810375"/>
            <a:ext cx="114300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9"/>
              </a:lnSpc>
              <a:spcBef>
                <a:spcPct val="0"/>
              </a:spcBef>
            </a:pPr>
            <a:r>
              <a:rPr lang="en-US" b="true" sz="2250" strike="noStrike" u="non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 un produit manque, on note la demande et on prévient le client quand il revient.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5F748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DÉMO 2  /  15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11200"/>
              <a:ext cx="19050000" cy="9258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97"/>
                </a:lnSpc>
                <a:spcBef>
                  <a:spcPct val="0"/>
                </a:spcBef>
              </a:pPr>
              <a:r>
                <a:rPr lang="en-US" b="true" sz="4950" strike="noStrike" u="none">
                  <a:solidFill>
                    <a:srgbClr val="102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Employés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857250" y="4095750"/>
            <a:ext cx="3905250" cy="2286000"/>
            <a:chOff x="0" y="0"/>
            <a:chExt cx="5207000" cy="304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07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5207000">
                  <a:moveTo>
                    <a:pt x="55756" y="0"/>
                  </a:moveTo>
                  <a:lnTo>
                    <a:pt x="5151244" y="0"/>
                  </a:lnTo>
                  <a:cubicBezTo>
                    <a:pt x="5166031" y="0"/>
                    <a:pt x="5180213" y="5874"/>
                    <a:pt x="5190670" y="16331"/>
                  </a:cubicBezTo>
                  <a:cubicBezTo>
                    <a:pt x="5201126" y="26787"/>
                    <a:pt x="5207000" y="40969"/>
                    <a:pt x="5207000" y="55756"/>
                  </a:cubicBezTo>
                  <a:lnTo>
                    <a:pt x="5207000" y="2992244"/>
                  </a:lnTo>
                  <a:cubicBezTo>
                    <a:pt x="5207000" y="3007031"/>
                    <a:pt x="5201126" y="3021213"/>
                    <a:pt x="5190670" y="3031669"/>
                  </a:cubicBezTo>
                  <a:cubicBezTo>
                    <a:pt x="5180213" y="3042126"/>
                    <a:pt x="5166031" y="3048000"/>
                    <a:pt x="5151244" y="3048000"/>
                  </a:cubicBezTo>
                  <a:lnTo>
                    <a:pt x="55756" y="3048000"/>
                  </a:lnTo>
                  <a:cubicBezTo>
                    <a:pt x="40969" y="3048000"/>
                    <a:pt x="26787" y="3042126"/>
                    <a:pt x="16331" y="3031669"/>
                  </a:cubicBezTo>
                  <a:cubicBezTo>
                    <a:pt x="5874" y="3021213"/>
                    <a:pt x="0" y="3007031"/>
                    <a:pt x="0" y="2992244"/>
                  </a:cubicBezTo>
                  <a:lnTo>
                    <a:pt x="0" y="55756"/>
                  </a:lnTo>
                  <a:cubicBezTo>
                    <a:pt x="0" y="40969"/>
                    <a:pt x="5874" y="26787"/>
                    <a:pt x="16331" y="16331"/>
                  </a:cubicBezTo>
                  <a:cubicBezTo>
                    <a:pt x="26787" y="5874"/>
                    <a:pt x="40969" y="0"/>
                    <a:pt x="55756" y="0"/>
                  </a:cubicBezTo>
                  <a:close/>
                </a:path>
              </a:pathLst>
            </a:custGeom>
            <a:solidFill>
              <a:srgbClr val="081C2C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5207000" cy="3038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Ajouter</a:t>
              </a:r>
            </a:p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Nom, salaire, photo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4810125" y="5238750"/>
            <a:ext cx="285750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5191125" y="4095750"/>
            <a:ext cx="3905250" cy="2286000"/>
            <a:chOff x="0" y="0"/>
            <a:chExt cx="5207000" cy="304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07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5207000">
                  <a:moveTo>
                    <a:pt x="55756" y="0"/>
                  </a:moveTo>
                  <a:lnTo>
                    <a:pt x="5151244" y="0"/>
                  </a:lnTo>
                  <a:cubicBezTo>
                    <a:pt x="5166031" y="0"/>
                    <a:pt x="5180213" y="5874"/>
                    <a:pt x="5190670" y="16331"/>
                  </a:cubicBezTo>
                  <a:cubicBezTo>
                    <a:pt x="5201126" y="26787"/>
                    <a:pt x="5207000" y="40969"/>
                    <a:pt x="5207000" y="55756"/>
                  </a:cubicBezTo>
                  <a:lnTo>
                    <a:pt x="5207000" y="2992244"/>
                  </a:lnTo>
                  <a:cubicBezTo>
                    <a:pt x="5207000" y="3007031"/>
                    <a:pt x="5201126" y="3021213"/>
                    <a:pt x="5190670" y="3031669"/>
                  </a:cubicBezTo>
                  <a:cubicBezTo>
                    <a:pt x="5180213" y="3042126"/>
                    <a:pt x="5166031" y="3048000"/>
                    <a:pt x="5151244" y="3048000"/>
                  </a:cubicBezTo>
                  <a:lnTo>
                    <a:pt x="55756" y="3048000"/>
                  </a:lnTo>
                  <a:cubicBezTo>
                    <a:pt x="40969" y="3048000"/>
                    <a:pt x="26787" y="3042126"/>
                    <a:pt x="16331" y="3031669"/>
                  </a:cubicBezTo>
                  <a:cubicBezTo>
                    <a:pt x="5874" y="3021213"/>
                    <a:pt x="0" y="3007031"/>
                    <a:pt x="0" y="2992244"/>
                  </a:cubicBezTo>
                  <a:lnTo>
                    <a:pt x="0" y="55756"/>
                  </a:lnTo>
                  <a:cubicBezTo>
                    <a:pt x="0" y="40969"/>
                    <a:pt x="5874" y="26787"/>
                    <a:pt x="16331" y="16331"/>
                  </a:cubicBezTo>
                  <a:cubicBezTo>
                    <a:pt x="26787" y="5874"/>
                    <a:pt x="40969" y="0"/>
                    <a:pt x="5575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5207000" cy="3038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Type d’employé</a:t>
              </a:r>
            </a:p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Ses permissions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9144000" y="5238750"/>
            <a:ext cx="285750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9525000" y="4095750"/>
            <a:ext cx="3905250" cy="2286000"/>
            <a:chOff x="0" y="0"/>
            <a:chExt cx="5207000" cy="3048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07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5207000">
                  <a:moveTo>
                    <a:pt x="55756" y="0"/>
                  </a:moveTo>
                  <a:lnTo>
                    <a:pt x="5151244" y="0"/>
                  </a:lnTo>
                  <a:cubicBezTo>
                    <a:pt x="5166031" y="0"/>
                    <a:pt x="5180213" y="5874"/>
                    <a:pt x="5190670" y="16331"/>
                  </a:cubicBezTo>
                  <a:cubicBezTo>
                    <a:pt x="5201126" y="26787"/>
                    <a:pt x="5207000" y="40969"/>
                    <a:pt x="5207000" y="55756"/>
                  </a:cubicBezTo>
                  <a:lnTo>
                    <a:pt x="5207000" y="2992244"/>
                  </a:lnTo>
                  <a:cubicBezTo>
                    <a:pt x="5207000" y="3007031"/>
                    <a:pt x="5201126" y="3021213"/>
                    <a:pt x="5190670" y="3031669"/>
                  </a:cubicBezTo>
                  <a:cubicBezTo>
                    <a:pt x="5180213" y="3042126"/>
                    <a:pt x="5166031" y="3048000"/>
                    <a:pt x="5151244" y="3048000"/>
                  </a:cubicBezTo>
                  <a:lnTo>
                    <a:pt x="55756" y="3048000"/>
                  </a:lnTo>
                  <a:cubicBezTo>
                    <a:pt x="40969" y="3048000"/>
                    <a:pt x="26787" y="3042126"/>
                    <a:pt x="16331" y="3031669"/>
                  </a:cubicBezTo>
                  <a:cubicBezTo>
                    <a:pt x="5874" y="3021213"/>
                    <a:pt x="0" y="3007031"/>
                    <a:pt x="0" y="2992244"/>
                  </a:cubicBezTo>
                  <a:lnTo>
                    <a:pt x="0" y="55756"/>
                  </a:lnTo>
                  <a:cubicBezTo>
                    <a:pt x="0" y="40969"/>
                    <a:pt x="5874" y="26787"/>
                    <a:pt x="16331" y="16331"/>
                  </a:cubicBezTo>
                  <a:cubicBezTo>
                    <a:pt x="26787" y="5874"/>
                    <a:pt x="40969" y="0"/>
                    <a:pt x="55756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5207000" cy="3038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Compte</a:t>
              </a:r>
            </a:p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Activer, désactiver, mot de passe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3477875" y="5238750"/>
            <a:ext cx="285750" cy="0"/>
          </a:xfrm>
          <a:prstGeom prst="line">
            <a:avLst/>
          </a:prstGeom>
          <a:ln cap="rnd" w="47625">
            <a:solidFill>
              <a:srgbClr val="18C5C8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13858875" y="4095750"/>
            <a:ext cx="3905250" cy="2286000"/>
            <a:chOff x="0" y="0"/>
            <a:chExt cx="5207000" cy="3048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07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5207000">
                  <a:moveTo>
                    <a:pt x="55756" y="0"/>
                  </a:moveTo>
                  <a:lnTo>
                    <a:pt x="5151244" y="0"/>
                  </a:lnTo>
                  <a:cubicBezTo>
                    <a:pt x="5166031" y="0"/>
                    <a:pt x="5180213" y="5874"/>
                    <a:pt x="5190670" y="16331"/>
                  </a:cubicBezTo>
                  <a:cubicBezTo>
                    <a:pt x="5201126" y="26787"/>
                    <a:pt x="5207000" y="40969"/>
                    <a:pt x="5207000" y="55756"/>
                  </a:cubicBezTo>
                  <a:lnTo>
                    <a:pt x="5207000" y="2992244"/>
                  </a:lnTo>
                  <a:cubicBezTo>
                    <a:pt x="5207000" y="3007031"/>
                    <a:pt x="5201126" y="3021213"/>
                    <a:pt x="5190670" y="3031669"/>
                  </a:cubicBezTo>
                  <a:cubicBezTo>
                    <a:pt x="5180213" y="3042126"/>
                    <a:pt x="5166031" y="3048000"/>
                    <a:pt x="5151244" y="3048000"/>
                  </a:cubicBezTo>
                  <a:lnTo>
                    <a:pt x="55756" y="3048000"/>
                  </a:lnTo>
                  <a:cubicBezTo>
                    <a:pt x="40969" y="3048000"/>
                    <a:pt x="26787" y="3042126"/>
                    <a:pt x="16331" y="3031669"/>
                  </a:cubicBezTo>
                  <a:cubicBezTo>
                    <a:pt x="5874" y="3021213"/>
                    <a:pt x="0" y="3007031"/>
                    <a:pt x="0" y="2992244"/>
                  </a:cubicBezTo>
                  <a:lnTo>
                    <a:pt x="0" y="55756"/>
                  </a:lnTo>
                  <a:cubicBezTo>
                    <a:pt x="0" y="40969"/>
                    <a:pt x="5874" y="26787"/>
                    <a:pt x="16331" y="16331"/>
                  </a:cubicBezTo>
                  <a:cubicBezTo>
                    <a:pt x="26787" y="5874"/>
                    <a:pt x="40969" y="0"/>
                    <a:pt x="55756" y="0"/>
                  </a:cubicBezTo>
                  <a:close/>
                </a:path>
              </a:pathLst>
            </a:custGeom>
            <a:solidFill>
              <a:srgbClr val="B8E34B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5207000" cy="3038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Paie</a:t>
              </a:r>
            </a:p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Fiches de paie par mois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524250" y="7381875"/>
            <a:ext cx="11239500" cy="861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5"/>
              </a:lnSpc>
              <a:spcBef>
                <a:spcPct val="0"/>
              </a:spcBef>
            </a:pPr>
            <a:r>
              <a:rPr lang="en-US" b="true" sz="2475" strike="noStrike" u="none">
                <a:solidFill>
                  <a:srgbClr val="102A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 employé désactivé ne peut plus se connecter, mais son historique reste.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08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514350"/>
            <a:ext cx="14287500" cy="1495425"/>
            <a:chOff x="0" y="0"/>
            <a:chExt cx="19050000" cy="199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6350000" cy="353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10"/>
                </a:lnSpc>
                <a:spcBef>
                  <a:spcPct val="0"/>
                </a:spcBef>
              </a:pPr>
              <a:r>
                <a:rPr lang="en-US" b="true" sz="1650" spc="198" strike="noStrike" u="none">
                  <a:solidFill>
                    <a:srgbClr val="18C5C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DÉMO 2  /  16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01675"/>
              <a:ext cx="19050000" cy="862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3"/>
                </a:lnSpc>
                <a:spcBef>
                  <a:spcPct val="0"/>
                </a:spcBef>
              </a:pPr>
              <a:r>
                <a:rPr lang="en-US" b="true" sz="4575" strike="noStrike" u="non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Finance et rapport financier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917700"/>
              <a:ext cx="1117600" cy="76200"/>
              <a:chOff x="0" y="0"/>
              <a:chExt cx="1117600" cy="762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117600" cy="76200"/>
              </a:xfrm>
              <a:custGeom>
                <a:avLst/>
                <a:gdLst/>
                <a:ahLst/>
                <a:cxnLst/>
                <a:rect r="r" b="b" t="t" l="l"/>
                <a:pathLst>
                  <a:path h="76200" w="1117600">
                    <a:moveTo>
                      <a:pt x="0" y="0"/>
                    </a:moveTo>
                    <a:lnTo>
                      <a:pt x="1117600" y="0"/>
                    </a:lnTo>
                    <a:lnTo>
                      <a:pt x="111760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solidFill>
                <a:srgbClr val="18C5C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117600" cy="114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2381250" y="3048000"/>
            <a:ext cx="13525500" cy="857250"/>
            <a:chOff x="0" y="0"/>
            <a:chExt cx="18034000" cy="114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034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8034000">
                  <a:moveTo>
                    <a:pt x="16099" y="0"/>
                  </a:moveTo>
                  <a:lnTo>
                    <a:pt x="18017902" y="0"/>
                  </a:lnTo>
                  <a:cubicBezTo>
                    <a:pt x="18022171" y="0"/>
                    <a:pt x="18026266" y="1696"/>
                    <a:pt x="18029286" y="4715"/>
                  </a:cubicBezTo>
                  <a:cubicBezTo>
                    <a:pt x="18032304" y="7734"/>
                    <a:pt x="18034000" y="11829"/>
                    <a:pt x="18034000" y="16099"/>
                  </a:cubicBezTo>
                  <a:lnTo>
                    <a:pt x="18034000" y="1126901"/>
                  </a:lnTo>
                  <a:cubicBezTo>
                    <a:pt x="18034000" y="1131171"/>
                    <a:pt x="18032304" y="1135266"/>
                    <a:pt x="18029286" y="1138285"/>
                  </a:cubicBezTo>
                  <a:cubicBezTo>
                    <a:pt x="18026266" y="1141304"/>
                    <a:pt x="18022171" y="1143000"/>
                    <a:pt x="18017902" y="1143000"/>
                  </a:cubicBezTo>
                  <a:lnTo>
                    <a:pt x="16099" y="1143000"/>
                  </a:lnTo>
                  <a:cubicBezTo>
                    <a:pt x="11829" y="1143000"/>
                    <a:pt x="7734" y="1141304"/>
                    <a:pt x="4715" y="1138285"/>
                  </a:cubicBezTo>
                  <a:cubicBezTo>
                    <a:pt x="1696" y="1135266"/>
                    <a:pt x="0" y="1131171"/>
                    <a:pt x="0" y="1126901"/>
                  </a:cubicBezTo>
                  <a:lnTo>
                    <a:pt x="0" y="16099"/>
                  </a:lnTo>
                  <a:cubicBezTo>
                    <a:pt x="0" y="11829"/>
                    <a:pt x="1696" y="7734"/>
                    <a:pt x="4715" y="4715"/>
                  </a:cubicBezTo>
                  <a:cubicBezTo>
                    <a:pt x="7734" y="1696"/>
                    <a:pt x="11829" y="0"/>
                    <a:pt x="1609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8034000" cy="113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Tout l’argent qui entre et qui sort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38500" y="4143375"/>
            <a:ext cx="11811000" cy="857250"/>
            <a:chOff x="0" y="0"/>
            <a:chExt cx="15748000" cy="114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748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5748000">
                  <a:moveTo>
                    <a:pt x="18435" y="0"/>
                  </a:moveTo>
                  <a:lnTo>
                    <a:pt x="15729564" y="0"/>
                  </a:lnTo>
                  <a:cubicBezTo>
                    <a:pt x="15734454" y="0"/>
                    <a:pt x="15739143" y="1942"/>
                    <a:pt x="15742600" y="5400"/>
                  </a:cubicBezTo>
                  <a:cubicBezTo>
                    <a:pt x="15746057" y="8857"/>
                    <a:pt x="15748000" y="13546"/>
                    <a:pt x="15748000" y="18435"/>
                  </a:cubicBezTo>
                  <a:lnTo>
                    <a:pt x="15748000" y="1124564"/>
                  </a:lnTo>
                  <a:cubicBezTo>
                    <a:pt x="15748000" y="1129454"/>
                    <a:pt x="15746057" y="1134143"/>
                    <a:pt x="15742600" y="1137600"/>
                  </a:cubicBezTo>
                  <a:cubicBezTo>
                    <a:pt x="15739143" y="1141058"/>
                    <a:pt x="15734454" y="1143000"/>
                    <a:pt x="15729564" y="1143000"/>
                  </a:cubicBezTo>
                  <a:lnTo>
                    <a:pt x="18435" y="1143000"/>
                  </a:lnTo>
                  <a:cubicBezTo>
                    <a:pt x="13546" y="1143000"/>
                    <a:pt x="8857" y="1141058"/>
                    <a:pt x="5400" y="1137600"/>
                  </a:cubicBezTo>
                  <a:cubicBezTo>
                    <a:pt x="1942" y="1134143"/>
                    <a:pt x="0" y="1129454"/>
                    <a:pt x="0" y="1124564"/>
                  </a:cubicBezTo>
                  <a:lnTo>
                    <a:pt x="0" y="18435"/>
                  </a:lnTo>
                  <a:cubicBezTo>
                    <a:pt x="0" y="13546"/>
                    <a:pt x="1942" y="8857"/>
                    <a:pt x="5400" y="5400"/>
                  </a:cubicBezTo>
                  <a:cubicBezTo>
                    <a:pt x="8857" y="1942"/>
                    <a:pt x="13546" y="0"/>
                    <a:pt x="18435" y="0"/>
                  </a:cubicBezTo>
                  <a:close/>
                </a:path>
              </a:pathLst>
            </a:custGeom>
            <a:solidFill>
              <a:srgbClr val="DCE8EC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15748000" cy="113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Ventes = argent qui entre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095750" y="5238750"/>
            <a:ext cx="10096500" cy="857250"/>
            <a:chOff x="0" y="0"/>
            <a:chExt cx="13462000" cy="1143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62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3462000">
                  <a:moveTo>
                    <a:pt x="21566" y="0"/>
                  </a:moveTo>
                  <a:lnTo>
                    <a:pt x="13440434" y="0"/>
                  </a:lnTo>
                  <a:cubicBezTo>
                    <a:pt x="13452345" y="0"/>
                    <a:pt x="13462000" y="9655"/>
                    <a:pt x="13462000" y="21566"/>
                  </a:cubicBezTo>
                  <a:lnTo>
                    <a:pt x="13462000" y="1121434"/>
                  </a:lnTo>
                  <a:cubicBezTo>
                    <a:pt x="13462000" y="1133345"/>
                    <a:pt x="13452345" y="1143000"/>
                    <a:pt x="13440434" y="1143000"/>
                  </a:cubicBezTo>
                  <a:lnTo>
                    <a:pt x="21566" y="1143000"/>
                  </a:lnTo>
                  <a:cubicBezTo>
                    <a:pt x="9655" y="1143000"/>
                    <a:pt x="0" y="1133345"/>
                    <a:pt x="0" y="1121434"/>
                  </a:cubicBezTo>
                  <a:lnTo>
                    <a:pt x="0" y="21566"/>
                  </a:lnTo>
                  <a:cubicBezTo>
                    <a:pt x="0" y="9655"/>
                    <a:pt x="9655" y="0"/>
                    <a:pt x="21566" y="0"/>
                  </a:cubicBezTo>
                  <a:close/>
                </a:path>
              </a:pathLst>
            </a:custGeom>
            <a:solidFill>
              <a:srgbClr val="18C5C8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3462000" cy="113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Achats = argent qui sort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953000" y="6334125"/>
            <a:ext cx="8382000" cy="857250"/>
            <a:chOff x="0" y="0"/>
            <a:chExt cx="11176000" cy="114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176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1176000">
                  <a:moveTo>
                    <a:pt x="25977" y="0"/>
                  </a:moveTo>
                  <a:lnTo>
                    <a:pt x="11150023" y="0"/>
                  </a:lnTo>
                  <a:cubicBezTo>
                    <a:pt x="11164370" y="0"/>
                    <a:pt x="11176000" y="11630"/>
                    <a:pt x="11176000" y="25977"/>
                  </a:cubicBezTo>
                  <a:lnTo>
                    <a:pt x="11176000" y="1117023"/>
                  </a:lnTo>
                  <a:cubicBezTo>
                    <a:pt x="11176000" y="1131370"/>
                    <a:pt x="11164370" y="1143000"/>
                    <a:pt x="11150023" y="1143000"/>
                  </a:cubicBezTo>
                  <a:lnTo>
                    <a:pt x="25977" y="1143000"/>
                  </a:lnTo>
                  <a:cubicBezTo>
                    <a:pt x="11630" y="1143000"/>
                    <a:pt x="0" y="1131370"/>
                    <a:pt x="0" y="1117023"/>
                  </a:cubicBezTo>
                  <a:lnTo>
                    <a:pt x="0" y="25977"/>
                  </a:lnTo>
                  <a:cubicBezTo>
                    <a:pt x="0" y="11630"/>
                    <a:pt x="11630" y="0"/>
                    <a:pt x="25977" y="0"/>
                  </a:cubicBezTo>
                  <a:close/>
                </a:path>
              </a:pathLst>
            </a:custGeom>
            <a:solidFill>
              <a:srgbClr val="DCE8EC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11176000" cy="113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Dépenses : loyer, électricité…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810250" y="7429500"/>
            <a:ext cx="6667500" cy="857250"/>
            <a:chOff x="0" y="0"/>
            <a:chExt cx="8890000" cy="1143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90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8890000">
                  <a:moveTo>
                    <a:pt x="32657" y="0"/>
                  </a:moveTo>
                  <a:lnTo>
                    <a:pt x="8857343" y="0"/>
                  </a:lnTo>
                  <a:cubicBezTo>
                    <a:pt x="8866004" y="0"/>
                    <a:pt x="8874310" y="3441"/>
                    <a:pt x="8880435" y="9565"/>
                  </a:cubicBezTo>
                  <a:cubicBezTo>
                    <a:pt x="8886559" y="15689"/>
                    <a:pt x="8890000" y="23996"/>
                    <a:pt x="8890000" y="32657"/>
                  </a:cubicBezTo>
                  <a:lnTo>
                    <a:pt x="8890000" y="1110343"/>
                  </a:lnTo>
                  <a:cubicBezTo>
                    <a:pt x="8890000" y="1119004"/>
                    <a:pt x="8886559" y="1127311"/>
                    <a:pt x="8880435" y="1133435"/>
                  </a:cubicBezTo>
                  <a:cubicBezTo>
                    <a:pt x="8874310" y="1139559"/>
                    <a:pt x="8866004" y="1143000"/>
                    <a:pt x="8857343" y="1143000"/>
                  </a:cubicBezTo>
                  <a:lnTo>
                    <a:pt x="32657" y="1143000"/>
                  </a:lnTo>
                  <a:cubicBezTo>
                    <a:pt x="23996" y="1143000"/>
                    <a:pt x="15689" y="1139559"/>
                    <a:pt x="9565" y="1133435"/>
                  </a:cubicBezTo>
                  <a:cubicBezTo>
                    <a:pt x="3441" y="1127311"/>
                    <a:pt x="0" y="1119004"/>
                    <a:pt x="0" y="1110343"/>
                  </a:cubicBezTo>
                  <a:lnTo>
                    <a:pt x="0" y="32657"/>
                  </a:lnTo>
                  <a:cubicBezTo>
                    <a:pt x="0" y="23996"/>
                    <a:pt x="3441" y="15689"/>
                    <a:pt x="9565" y="9565"/>
                  </a:cubicBezTo>
                  <a:cubicBezTo>
                    <a:pt x="15689" y="3441"/>
                    <a:pt x="23996" y="0"/>
                    <a:pt x="3265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8890000" cy="113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56"/>
                </a:lnSpc>
                <a:spcBef>
                  <a:spcPct val="0"/>
                </a:spcBef>
              </a:pPr>
              <a:r>
                <a:rPr lang="en-US" b="true" sz="1875" strike="noStrike" u="none">
                  <a:solidFill>
                    <a:srgbClr val="081C2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Rapport par mois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8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11250" y="2381250"/>
            <a:ext cx="5905500" cy="5905500"/>
            <a:chOff x="0" y="0"/>
            <a:chExt cx="7874000" cy="787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7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18C5C8">
                <a:alpha val="1372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874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33500" y="1400175"/>
            <a:ext cx="47625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8C5C8"/>
                </a:solidFill>
                <a:latin typeface="DM Sans Bold"/>
                <a:ea typeface="DM Sans Bold"/>
                <a:cs typeface="DM Sans Bold"/>
                <a:sym typeface="DM Sans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3500" y="2800350"/>
            <a:ext cx="12858750" cy="2085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32"/>
              </a:lnSpc>
              <a:spcBef>
                <a:spcPct val="0"/>
              </a:spcBef>
            </a:pPr>
            <a:r>
              <a:rPr lang="en-US" b="true" sz="7875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 seul site</a:t>
            </a:r>
          </a:p>
          <a:p>
            <a:pPr algn="l" marL="0" indent="0" lvl="0">
              <a:lnSpc>
                <a:spcPts val="8032"/>
              </a:lnSpc>
              <a:spcBef>
                <a:spcPct val="0"/>
              </a:spcBef>
            </a:pPr>
            <a:r>
              <a:rPr lang="en-US" b="true" sz="7875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pour tout le magasin.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8750" y="5391150"/>
            <a:ext cx="1143000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J’ai créé seul un projet complet : frontend, backend, base de données et sécurité. Plus tard : application mobile, plusieurs magasins et notifications.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8124825"/>
            <a:ext cx="857250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B8E3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Merci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DAHWSl1f1zM</dc:identifier>
  <dcterms:modified xsi:type="dcterms:W3CDTF">2011-08-01T06:04:30Z</dcterms:modified>
  <cp:revision>1</cp:revision>
  <dc:title>Soutenance BESTMARK</dc:title>
</cp:coreProperties>
</file>